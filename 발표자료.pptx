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3"/>
    <p:restoredTop sz="94670"/>
  </p:normalViewPr>
  <p:slideViewPr>
    <p:cSldViewPr snapToGrid="0">
      <p:cViewPr varScale="1">
        <p:scale>
          <a:sx n="116" d="100"/>
          <a:sy n="116" d="100"/>
        </p:scale>
        <p:origin x="42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image" Target="../media/image1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180F9D-7C5E-9B47-A32C-49F51E73A44E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C38ADE9B-D9C7-E34E-B1F0-28D5B22ED2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 dirty="0"/>
            <a:t>실제 크기 추정 방식</a:t>
          </a:r>
        </a:p>
      </dgm:t>
    </dgm:pt>
    <dgm:pt modelId="{75FD9059-C51D-0741-BE7B-904788B9779A}" type="parTrans" cxnId="{2E11DF98-1C0F-6E42-B382-6CC39E25B9AD}">
      <dgm:prSet/>
      <dgm:spPr/>
      <dgm:t>
        <a:bodyPr/>
        <a:lstStyle/>
        <a:p>
          <a:pPr latinLnBrk="1"/>
          <a:endParaRPr lang="ko-KR" altLang="en-US"/>
        </a:p>
      </dgm:t>
    </dgm:pt>
    <dgm:pt modelId="{2610D932-5A98-D243-946E-D0C6B686CEB2}" type="sibTrans" cxnId="{2E11DF98-1C0F-6E42-B382-6CC39E25B9A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ko-KR" altLang="en-US"/>
        </a:p>
      </dgm:t>
    </dgm:pt>
    <dgm:pt modelId="{4B2A1E0C-911E-374A-8BA5-AE85232A26AC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dirty="0"/>
            <a:t>YOLOv5 감지, </a:t>
          </a:r>
          <a:r>
            <a:rPr lang="ko-KR" dirty="0" err="1"/>
            <a:t>LiDAR</a:t>
          </a:r>
          <a:r>
            <a:rPr lang="ko-KR" dirty="0"/>
            <a:t> 또는 깊이센서 거리, 카메라 내</a:t>
          </a:r>
          <a:r>
            <a:rPr lang="en-US" altLang="ko-KR" dirty="0"/>
            <a:t> </a:t>
          </a:r>
          <a:r>
            <a:rPr lang="ko-KR" dirty="0"/>
            <a:t>파라미터를 활용하여 물체의 실제 크기를 추정합니다.</a:t>
          </a:r>
        </a:p>
      </dgm:t>
    </dgm:pt>
    <dgm:pt modelId="{9D81FE88-9F63-A64C-8DA1-50143FC794E6}" type="parTrans" cxnId="{3BAEC2DD-156E-E949-83D9-38BDD0B9BAAD}">
      <dgm:prSet/>
      <dgm:spPr/>
      <dgm:t>
        <a:bodyPr/>
        <a:lstStyle/>
        <a:p>
          <a:pPr latinLnBrk="1"/>
          <a:endParaRPr lang="ko-KR" altLang="en-US"/>
        </a:p>
      </dgm:t>
    </dgm:pt>
    <dgm:pt modelId="{CF08F706-4E1B-5F4C-8E47-C4102914E0E0}" type="sibTrans" cxnId="{3BAEC2DD-156E-E949-83D9-38BDD0B9BAAD}">
      <dgm:prSet/>
      <dgm:spPr/>
      <dgm:t>
        <a:bodyPr/>
        <a:lstStyle/>
        <a:p>
          <a:pPr latinLnBrk="1"/>
          <a:endParaRPr lang="ko-KR" altLang="en-US"/>
        </a:p>
      </dgm:t>
    </dgm:pt>
    <dgm:pt modelId="{AA7D8463-5C61-634D-A79F-110FF2643A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 dirty="0" err="1"/>
            <a:t>기준값과</a:t>
          </a:r>
          <a:r>
            <a:rPr lang="ko-KR" dirty="0"/>
            <a:t> 허용 오차</a:t>
          </a:r>
        </a:p>
      </dgm:t>
    </dgm:pt>
    <dgm:pt modelId="{4226478A-8701-704F-828E-EAE2E391A69D}" type="parTrans" cxnId="{05420A0A-2B48-8945-A5C2-DD9423B1FC97}">
      <dgm:prSet/>
      <dgm:spPr/>
      <dgm:t>
        <a:bodyPr/>
        <a:lstStyle/>
        <a:p>
          <a:pPr latinLnBrk="1"/>
          <a:endParaRPr lang="ko-KR" altLang="en-US"/>
        </a:p>
      </dgm:t>
    </dgm:pt>
    <dgm:pt modelId="{337DA095-005E-3D43-B225-E0A3F13CF52C}" type="sibTrans" cxnId="{05420A0A-2B48-8945-A5C2-DD9423B1FC97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ko-KR" altLang="en-US"/>
        </a:p>
      </dgm:t>
    </dgm:pt>
    <dgm:pt modelId="{8EB79C65-6804-0E41-864D-E94F9EA594CC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dirty="0"/>
            <a:t>추정된 크기가 우체국 4호 상자의 </a:t>
          </a:r>
          <a:r>
            <a:rPr lang="ko-KR" dirty="0" err="1"/>
            <a:t>기준값과</a:t>
          </a:r>
          <a:r>
            <a:rPr lang="ko-KR" dirty="0"/>
            <a:t> ±10cm 오차 내에 있으면 해당 물체로 판별합니다.</a:t>
          </a:r>
        </a:p>
      </dgm:t>
    </dgm:pt>
    <dgm:pt modelId="{A424063F-1EE2-B44F-8A14-55A0A590023B}" type="parTrans" cxnId="{E9A9BE91-B3D8-9E48-BD02-89A67FF78464}">
      <dgm:prSet/>
      <dgm:spPr/>
      <dgm:t>
        <a:bodyPr/>
        <a:lstStyle/>
        <a:p>
          <a:pPr latinLnBrk="1"/>
          <a:endParaRPr lang="ko-KR" altLang="en-US"/>
        </a:p>
      </dgm:t>
    </dgm:pt>
    <dgm:pt modelId="{C1955A02-4559-9845-83D5-15F8A654DC6B}" type="sibTrans" cxnId="{E9A9BE91-B3D8-9E48-BD02-89A67FF78464}">
      <dgm:prSet/>
      <dgm:spPr/>
      <dgm:t>
        <a:bodyPr/>
        <a:lstStyle/>
        <a:p>
          <a:pPr latinLnBrk="1"/>
          <a:endParaRPr lang="ko-KR" altLang="en-US"/>
        </a:p>
      </dgm:t>
    </dgm:pt>
    <dgm:pt modelId="{8ABC4683-810D-A04E-B92F-3B2B03F51B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/>
            <a:t>정확한 객체 필터링</a:t>
          </a:r>
        </a:p>
      </dgm:t>
    </dgm:pt>
    <dgm:pt modelId="{F5E99D1A-CC38-FE4F-8CF3-95E9E800B751}" type="parTrans" cxnId="{0C8B490C-F5CF-A445-8F8B-4D80BA1F960B}">
      <dgm:prSet/>
      <dgm:spPr/>
      <dgm:t>
        <a:bodyPr/>
        <a:lstStyle/>
        <a:p>
          <a:pPr latinLnBrk="1"/>
          <a:endParaRPr lang="ko-KR" altLang="en-US"/>
        </a:p>
      </dgm:t>
    </dgm:pt>
    <dgm:pt modelId="{91F0C51D-3EFE-2D42-A0CA-783AABCFFC3C}" type="sibTrans" cxnId="{0C8B490C-F5CF-A445-8F8B-4D80BA1F960B}">
      <dgm:prSet/>
      <dgm:spPr/>
      <dgm:t>
        <a:bodyPr/>
        <a:lstStyle/>
        <a:p>
          <a:pPr latinLnBrk="1"/>
          <a:endParaRPr lang="ko-KR" altLang="en-US"/>
        </a:p>
      </dgm:t>
    </dgm:pt>
    <dgm:pt modelId="{02B53DC4-6588-6F40-B29E-DD526B77B5C0}">
      <dgm:prSet/>
      <dgm:spPr/>
      <dgm:t>
        <a:bodyPr/>
        <a:lstStyle/>
        <a:p>
          <a:pPr>
            <a:lnSpc>
              <a:spcPct val="100000"/>
            </a:lnSpc>
          </a:pPr>
          <a:r>
            <a:rPr lang="ko-KR"/>
            <a:t>이 방법을 통해 목표 Object만을 정확하게 필터링할 수 있습니다.</a:t>
          </a:r>
        </a:p>
      </dgm:t>
    </dgm:pt>
    <dgm:pt modelId="{01C84AEF-CA0C-B547-A877-6A36BBBF11DB}" type="parTrans" cxnId="{EDBCD8D4-F638-DF4F-BD43-76E82BFE8909}">
      <dgm:prSet/>
      <dgm:spPr/>
      <dgm:t>
        <a:bodyPr/>
        <a:lstStyle/>
        <a:p>
          <a:pPr latinLnBrk="1"/>
          <a:endParaRPr lang="ko-KR" altLang="en-US"/>
        </a:p>
      </dgm:t>
    </dgm:pt>
    <dgm:pt modelId="{E0E42C35-936F-CA43-86C9-1A26A8EA98EE}" type="sibTrans" cxnId="{EDBCD8D4-F638-DF4F-BD43-76E82BFE8909}">
      <dgm:prSet/>
      <dgm:spPr/>
      <dgm:t>
        <a:bodyPr/>
        <a:lstStyle/>
        <a:p>
          <a:pPr latinLnBrk="1"/>
          <a:endParaRPr lang="ko-KR" altLang="en-US"/>
        </a:p>
      </dgm:t>
    </dgm:pt>
    <dgm:pt modelId="{9B438790-D84A-4B30-8B8C-E2A2AB56A644}" type="pres">
      <dgm:prSet presAssocID="{18180F9D-7C5E-9B47-A32C-49F51E73A44E}" presName="Root" presStyleCnt="0">
        <dgm:presLayoutVars>
          <dgm:dir/>
          <dgm:resizeHandles val="exact"/>
        </dgm:presLayoutVars>
      </dgm:prSet>
      <dgm:spPr/>
    </dgm:pt>
    <dgm:pt modelId="{A8C804BE-3F9D-4764-A314-2AEEC25EDD0F}" type="pres">
      <dgm:prSet presAssocID="{C38ADE9B-D9C7-E34E-B1F0-28D5B22ED291}" presName="Composite" presStyleCnt="0"/>
      <dgm:spPr/>
    </dgm:pt>
    <dgm:pt modelId="{86E97DAF-7099-4C16-BFD5-3ADE1DB3494D}" type="pres">
      <dgm:prSet presAssocID="{C38ADE9B-D9C7-E34E-B1F0-28D5B22ED291}" presName="Picture" presStyleLbl="nod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22602BD3-DF45-49B7-9CE0-ED9A2624EE30}" type="pres">
      <dgm:prSet presAssocID="{C38ADE9B-D9C7-E34E-B1F0-28D5B22ED291}" presName="Subtitle" presStyleLbl="revTx" presStyleIdx="0" presStyleCnt="6">
        <dgm:presLayoutVars>
          <dgm:chMax val="0"/>
          <dgm:bulletEnabled/>
        </dgm:presLayoutVars>
      </dgm:prSet>
      <dgm:spPr/>
    </dgm:pt>
    <dgm:pt modelId="{8EDD16E4-C0BE-4431-992F-9F270E066EE5}" type="pres">
      <dgm:prSet presAssocID="{C38ADE9B-D9C7-E34E-B1F0-28D5B22ED291}" presName="Description" presStyleLbl="revTx" presStyleIdx="1" presStyleCnt="6">
        <dgm:presLayoutVars>
          <dgm:bulletEnabled/>
        </dgm:presLayoutVars>
      </dgm:prSet>
      <dgm:spPr/>
    </dgm:pt>
    <dgm:pt modelId="{177D20A3-1C49-4BF3-BF24-EDE51E9643F5}" type="pres">
      <dgm:prSet presAssocID="{2610D932-5A98-D243-946E-D0C6B686CEB2}" presName="sibTrans" presStyleLbl="sibTrans2D1" presStyleIdx="0" presStyleCnt="0"/>
      <dgm:spPr/>
    </dgm:pt>
    <dgm:pt modelId="{1FDD3733-EA92-483B-B3D6-3B2BC421E4AB}" type="pres">
      <dgm:prSet presAssocID="{AA7D8463-5C61-634D-A79F-110FF2643A37}" presName="Composite" presStyleCnt="0"/>
      <dgm:spPr/>
    </dgm:pt>
    <dgm:pt modelId="{D7C8B5C9-B815-4F59-AC28-6F9952DBF988}" type="pres">
      <dgm:prSet presAssocID="{AA7D8463-5C61-634D-A79F-110FF2643A37}" presName="Picture" presStyleLbl="node1" presStyleIdx="1" presStyleCnt="3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4DBE8E2F-72F2-4672-8664-56A94264C12F}" type="pres">
      <dgm:prSet presAssocID="{AA7D8463-5C61-634D-A79F-110FF2643A37}" presName="Subtitle" presStyleLbl="revTx" presStyleIdx="2" presStyleCnt="6">
        <dgm:presLayoutVars>
          <dgm:chMax val="0"/>
          <dgm:bulletEnabled/>
        </dgm:presLayoutVars>
      </dgm:prSet>
      <dgm:spPr/>
    </dgm:pt>
    <dgm:pt modelId="{441A822A-D314-4C5D-965E-601F78D6BC54}" type="pres">
      <dgm:prSet presAssocID="{AA7D8463-5C61-634D-A79F-110FF2643A37}" presName="Description" presStyleLbl="revTx" presStyleIdx="3" presStyleCnt="6">
        <dgm:presLayoutVars>
          <dgm:bulletEnabled/>
        </dgm:presLayoutVars>
      </dgm:prSet>
      <dgm:spPr/>
    </dgm:pt>
    <dgm:pt modelId="{E855BF28-482D-4E69-8192-531216CD5A17}" type="pres">
      <dgm:prSet presAssocID="{337DA095-005E-3D43-B225-E0A3F13CF52C}" presName="sibTrans" presStyleLbl="sibTrans2D1" presStyleIdx="0" presStyleCnt="0"/>
      <dgm:spPr/>
    </dgm:pt>
    <dgm:pt modelId="{3BFB8BC4-92F2-48E8-BE1B-82997AB3B2D8}" type="pres">
      <dgm:prSet presAssocID="{8ABC4683-810D-A04E-B92F-3B2B03F51B42}" presName="Composite" presStyleCnt="0"/>
      <dgm:spPr/>
    </dgm:pt>
    <dgm:pt modelId="{C8F00185-FFC9-413C-A7A1-2136C0707DBE}" type="pres">
      <dgm:prSet presAssocID="{8ABC4683-810D-A04E-B92F-3B2B03F51B42}" presName="Picture" presStyleLbl="nod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04407801-05EF-4318-A606-A0539977D3B6}" type="pres">
      <dgm:prSet presAssocID="{8ABC4683-810D-A04E-B92F-3B2B03F51B42}" presName="Subtitle" presStyleLbl="revTx" presStyleIdx="4" presStyleCnt="6">
        <dgm:presLayoutVars>
          <dgm:chMax val="0"/>
          <dgm:bulletEnabled/>
        </dgm:presLayoutVars>
      </dgm:prSet>
      <dgm:spPr/>
    </dgm:pt>
    <dgm:pt modelId="{F8856DB2-BFCB-47AB-BE32-330A9635C9B0}" type="pres">
      <dgm:prSet presAssocID="{8ABC4683-810D-A04E-B92F-3B2B03F51B42}" presName="Description" presStyleLbl="revTx" presStyleIdx="5" presStyleCnt="6">
        <dgm:presLayoutVars>
          <dgm:bulletEnabled/>
        </dgm:presLayoutVars>
      </dgm:prSet>
      <dgm:spPr/>
    </dgm:pt>
  </dgm:ptLst>
  <dgm:cxnLst>
    <dgm:cxn modelId="{05420A0A-2B48-8945-A5C2-DD9423B1FC97}" srcId="{18180F9D-7C5E-9B47-A32C-49F51E73A44E}" destId="{AA7D8463-5C61-634D-A79F-110FF2643A37}" srcOrd="1" destOrd="0" parTransId="{4226478A-8701-704F-828E-EAE2E391A69D}" sibTransId="{337DA095-005E-3D43-B225-E0A3F13CF52C}"/>
    <dgm:cxn modelId="{0C8B490C-F5CF-A445-8F8B-4D80BA1F960B}" srcId="{18180F9D-7C5E-9B47-A32C-49F51E73A44E}" destId="{8ABC4683-810D-A04E-B92F-3B2B03F51B42}" srcOrd="2" destOrd="0" parTransId="{F5E99D1A-CC38-FE4F-8CF3-95E9E800B751}" sibTransId="{91F0C51D-3EFE-2D42-A0CA-783AABCFFC3C}"/>
    <dgm:cxn modelId="{F6FFC415-7981-594C-A8C9-8E5A65AD4C5A}" type="presOf" srcId="{18180F9D-7C5E-9B47-A32C-49F51E73A44E}" destId="{9B438790-D84A-4B30-8B8C-E2A2AB56A644}" srcOrd="0" destOrd="0" presId="urn:microsoft.com/office/officeart/2024/3/layout/verticalVisualTextBlock1"/>
    <dgm:cxn modelId="{DAC1AC21-BD72-4A4D-859B-D3B8A7892166}" type="presOf" srcId="{4B2A1E0C-911E-374A-8BA5-AE85232A26AC}" destId="{8EDD16E4-C0BE-4431-992F-9F270E066EE5}" srcOrd="0" destOrd="0" presId="urn:microsoft.com/office/officeart/2024/3/layout/verticalVisualTextBlock1"/>
    <dgm:cxn modelId="{76EE8641-B6BE-8A46-8F8C-04BA42EA21C4}" type="presOf" srcId="{02B53DC4-6588-6F40-B29E-DD526B77B5C0}" destId="{F8856DB2-BFCB-47AB-BE32-330A9635C9B0}" srcOrd="0" destOrd="0" presId="urn:microsoft.com/office/officeart/2024/3/layout/verticalVisualTextBlock1"/>
    <dgm:cxn modelId="{7C056944-68B1-5345-A77A-FB7694C05078}" type="presOf" srcId="{8EB79C65-6804-0E41-864D-E94F9EA594CC}" destId="{441A822A-D314-4C5D-965E-601F78D6BC54}" srcOrd="0" destOrd="0" presId="urn:microsoft.com/office/officeart/2024/3/layout/verticalVisualTextBlock1"/>
    <dgm:cxn modelId="{216B8553-153B-194C-A589-A62FAEF03C08}" type="presOf" srcId="{C38ADE9B-D9C7-E34E-B1F0-28D5B22ED291}" destId="{22602BD3-DF45-49B7-9CE0-ED9A2624EE30}" srcOrd="0" destOrd="0" presId="urn:microsoft.com/office/officeart/2024/3/layout/verticalVisualTextBlock1"/>
    <dgm:cxn modelId="{B2A3645C-09C4-9B40-9722-FEDB58EC80E2}" type="presOf" srcId="{8ABC4683-810D-A04E-B92F-3B2B03F51B42}" destId="{04407801-05EF-4318-A606-A0539977D3B6}" srcOrd="0" destOrd="0" presId="urn:microsoft.com/office/officeart/2024/3/layout/verticalVisualTextBlock1"/>
    <dgm:cxn modelId="{E9A9BE91-B3D8-9E48-BD02-89A67FF78464}" srcId="{AA7D8463-5C61-634D-A79F-110FF2643A37}" destId="{8EB79C65-6804-0E41-864D-E94F9EA594CC}" srcOrd="0" destOrd="0" parTransId="{A424063F-1EE2-B44F-8A14-55A0A590023B}" sibTransId="{C1955A02-4559-9845-83D5-15F8A654DC6B}"/>
    <dgm:cxn modelId="{2E11DF98-1C0F-6E42-B382-6CC39E25B9AD}" srcId="{18180F9D-7C5E-9B47-A32C-49F51E73A44E}" destId="{C38ADE9B-D9C7-E34E-B1F0-28D5B22ED291}" srcOrd="0" destOrd="0" parTransId="{75FD9059-C51D-0741-BE7B-904788B9779A}" sibTransId="{2610D932-5A98-D243-946E-D0C6B686CEB2}"/>
    <dgm:cxn modelId="{EB754CA1-9AA1-FE40-B4E4-2E92600C3125}" type="presOf" srcId="{AA7D8463-5C61-634D-A79F-110FF2643A37}" destId="{4DBE8E2F-72F2-4672-8664-56A94264C12F}" srcOrd="0" destOrd="0" presId="urn:microsoft.com/office/officeart/2024/3/layout/verticalVisualTextBlock1"/>
    <dgm:cxn modelId="{851F44BF-ED58-8F48-9111-C4BB7B0A89CE}" type="presOf" srcId="{2610D932-5A98-D243-946E-D0C6B686CEB2}" destId="{177D20A3-1C49-4BF3-BF24-EDE51E9643F5}" srcOrd="0" destOrd="0" presId="urn:microsoft.com/office/officeart/2024/3/layout/verticalVisualTextBlock1"/>
    <dgm:cxn modelId="{EDBCD8D4-F638-DF4F-BD43-76E82BFE8909}" srcId="{8ABC4683-810D-A04E-B92F-3B2B03F51B42}" destId="{02B53DC4-6588-6F40-B29E-DD526B77B5C0}" srcOrd="0" destOrd="0" parTransId="{01C84AEF-CA0C-B547-A877-6A36BBBF11DB}" sibTransId="{E0E42C35-936F-CA43-86C9-1A26A8EA98EE}"/>
    <dgm:cxn modelId="{3BAEC2DD-156E-E949-83D9-38BDD0B9BAAD}" srcId="{C38ADE9B-D9C7-E34E-B1F0-28D5B22ED291}" destId="{4B2A1E0C-911E-374A-8BA5-AE85232A26AC}" srcOrd="0" destOrd="0" parTransId="{9D81FE88-9F63-A64C-8DA1-50143FC794E6}" sibTransId="{CF08F706-4E1B-5F4C-8E47-C4102914E0E0}"/>
    <dgm:cxn modelId="{34B932E8-DEBE-BE49-8D03-2C7B995CC510}" type="presOf" srcId="{337DA095-005E-3D43-B225-E0A3F13CF52C}" destId="{E855BF28-482D-4E69-8192-531216CD5A17}" srcOrd="0" destOrd="0" presId="urn:microsoft.com/office/officeart/2024/3/layout/verticalVisualTextBlock1"/>
    <dgm:cxn modelId="{3B3008D2-C99E-804F-8BE9-B94F0FF31272}" type="presParOf" srcId="{9B438790-D84A-4B30-8B8C-E2A2AB56A644}" destId="{A8C804BE-3F9D-4764-A314-2AEEC25EDD0F}" srcOrd="0" destOrd="0" presId="urn:microsoft.com/office/officeart/2024/3/layout/verticalVisualTextBlock1"/>
    <dgm:cxn modelId="{2B8F1220-F4F1-CE40-BF26-AE0ABD4FA4F8}" type="presParOf" srcId="{A8C804BE-3F9D-4764-A314-2AEEC25EDD0F}" destId="{86E97DAF-7099-4C16-BFD5-3ADE1DB3494D}" srcOrd="0" destOrd="0" presId="urn:microsoft.com/office/officeart/2024/3/layout/verticalVisualTextBlock1"/>
    <dgm:cxn modelId="{C8406577-4CBB-9F42-BA1F-8A31CD5EF558}" type="presParOf" srcId="{A8C804BE-3F9D-4764-A314-2AEEC25EDD0F}" destId="{22602BD3-DF45-49B7-9CE0-ED9A2624EE30}" srcOrd="1" destOrd="0" presId="urn:microsoft.com/office/officeart/2024/3/layout/verticalVisualTextBlock1"/>
    <dgm:cxn modelId="{C3D5F569-4A81-8345-A139-C0ED301A3A29}" type="presParOf" srcId="{A8C804BE-3F9D-4764-A314-2AEEC25EDD0F}" destId="{8EDD16E4-C0BE-4431-992F-9F270E066EE5}" srcOrd="2" destOrd="0" presId="urn:microsoft.com/office/officeart/2024/3/layout/verticalVisualTextBlock1"/>
    <dgm:cxn modelId="{57C3B9BE-619A-0B4C-916F-B27EF9135CB1}" type="presParOf" srcId="{9B438790-D84A-4B30-8B8C-E2A2AB56A644}" destId="{177D20A3-1C49-4BF3-BF24-EDE51E9643F5}" srcOrd="1" destOrd="0" presId="urn:microsoft.com/office/officeart/2024/3/layout/verticalVisualTextBlock1"/>
    <dgm:cxn modelId="{ED1A4C78-B8F9-D541-A7BA-6CA68D9D4343}" type="presParOf" srcId="{9B438790-D84A-4B30-8B8C-E2A2AB56A644}" destId="{1FDD3733-EA92-483B-B3D6-3B2BC421E4AB}" srcOrd="2" destOrd="0" presId="urn:microsoft.com/office/officeart/2024/3/layout/verticalVisualTextBlock1"/>
    <dgm:cxn modelId="{D2FCA717-E59A-DD4C-9DEF-0A7BBF022165}" type="presParOf" srcId="{1FDD3733-EA92-483B-B3D6-3B2BC421E4AB}" destId="{D7C8B5C9-B815-4F59-AC28-6F9952DBF988}" srcOrd="0" destOrd="0" presId="urn:microsoft.com/office/officeart/2024/3/layout/verticalVisualTextBlock1"/>
    <dgm:cxn modelId="{27BDAF33-E83E-9A4B-B135-EBBE30E81BC3}" type="presParOf" srcId="{1FDD3733-EA92-483B-B3D6-3B2BC421E4AB}" destId="{4DBE8E2F-72F2-4672-8664-56A94264C12F}" srcOrd="1" destOrd="0" presId="urn:microsoft.com/office/officeart/2024/3/layout/verticalVisualTextBlock1"/>
    <dgm:cxn modelId="{9B10ABD1-96EF-214A-A351-9898EA28E550}" type="presParOf" srcId="{1FDD3733-EA92-483B-B3D6-3B2BC421E4AB}" destId="{441A822A-D314-4C5D-965E-601F78D6BC54}" srcOrd="2" destOrd="0" presId="urn:microsoft.com/office/officeart/2024/3/layout/verticalVisualTextBlock1"/>
    <dgm:cxn modelId="{DD2BBF9B-9B45-8D42-BDC3-92A9F29A8B1F}" type="presParOf" srcId="{9B438790-D84A-4B30-8B8C-E2A2AB56A644}" destId="{E855BF28-482D-4E69-8192-531216CD5A17}" srcOrd="3" destOrd="0" presId="urn:microsoft.com/office/officeart/2024/3/layout/verticalVisualTextBlock1"/>
    <dgm:cxn modelId="{38F800BD-71F7-8040-A1C7-961F855742EB}" type="presParOf" srcId="{9B438790-D84A-4B30-8B8C-E2A2AB56A644}" destId="{3BFB8BC4-92F2-48E8-BE1B-82997AB3B2D8}" srcOrd="4" destOrd="0" presId="urn:microsoft.com/office/officeart/2024/3/layout/verticalVisualTextBlock1"/>
    <dgm:cxn modelId="{E096AD94-AEEF-2746-A399-CCFCCC5C7DB0}" type="presParOf" srcId="{3BFB8BC4-92F2-48E8-BE1B-82997AB3B2D8}" destId="{C8F00185-FFC9-413C-A7A1-2136C0707DBE}" srcOrd="0" destOrd="0" presId="urn:microsoft.com/office/officeart/2024/3/layout/verticalVisualTextBlock1"/>
    <dgm:cxn modelId="{3DEFDFCA-2D63-3948-895A-CA98B04FC66B}" type="presParOf" srcId="{3BFB8BC4-92F2-48E8-BE1B-82997AB3B2D8}" destId="{04407801-05EF-4318-A606-A0539977D3B6}" srcOrd="1" destOrd="0" presId="urn:microsoft.com/office/officeart/2024/3/layout/verticalVisualTextBlock1"/>
    <dgm:cxn modelId="{1E39B16B-9474-C542-A9AE-CF6BA5B32DBC}" type="presParOf" srcId="{3BFB8BC4-92F2-48E8-BE1B-82997AB3B2D8}" destId="{F8856DB2-BFCB-47AB-BE32-330A9635C9B0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F7B16D-4A24-414E-8E6F-0D7D5C206485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4AC07AA9-E286-EE40-9589-405E48EC901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/>
            <a:t>픽셀-실제 크기 변환</a:t>
          </a:r>
        </a:p>
      </dgm:t>
    </dgm:pt>
    <dgm:pt modelId="{49237E6D-2A84-D94A-BB44-DAC6B915C478}" type="parTrans" cxnId="{92B7A01F-3E74-4F4D-9A24-732E290D1722}">
      <dgm:prSet/>
      <dgm:spPr/>
      <dgm:t>
        <a:bodyPr/>
        <a:lstStyle/>
        <a:p>
          <a:pPr latinLnBrk="1"/>
          <a:endParaRPr lang="ko-KR" altLang="en-US"/>
        </a:p>
      </dgm:t>
    </dgm:pt>
    <dgm:pt modelId="{10E6061D-522E-E944-B0A9-4B5D2BE72E08}" type="sibTrans" cxnId="{92B7A01F-3E74-4F4D-9A24-732E290D172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ko-KR" altLang="en-US"/>
        </a:p>
      </dgm:t>
    </dgm:pt>
    <dgm:pt modelId="{369AB35A-6B91-AD41-8B0B-F363BF447369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dirty="0" err="1"/>
            <a:t>BoxSizeHelper는</a:t>
          </a:r>
          <a:r>
            <a:rPr lang="ko-KR" dirty="0"/>
            <a:t> 픽셀 크기와 실제 물리적 크기 간의 변환을 간편하게 처리할 수 있습니다.</a:t>
          </a:r>
          <a:endParaRPr lang="en-US" altLang="ko-KR" dirty="0"/>
        </a:p>
        <a:p>
          <a:pPr>
            <a:lnSpc>
              <a:spcPct val="100000"/>
            </a:lnSpc>
          </a:pPr>
          <a:r>
            <a:rPr lang="ko-KR" altLang="en-US" dirty="0"/>
            <a:t>이후 작성될 전체 스크립트 중 목표탐지에 사용됩니다</a:t>
          </a:r>
          <a:r>
            <a:rPr lang="en-US" altLang="ko-KR" dirty="0"/>
            <a:t>.</a:t>
          </a:r>
          <a:endParaRPr lang="ko-KR" dirty="0"/>
        </a:p>
      </dgm:t>
    </dgm:pt>
    <dgm:pt modelId="{DD4DDF1F-BCF9-174F-9D7C-94322B645A26}" type="parTrans" cxnId="{F2BE47B8-4444-134F-A5FA-687D48A5E786}">
      <dgm:prSet/>
      <dgm:spPr/>
      <dgm:t>
        <a:bodyPr/>
        <a:lstStyle/>
        <a:p>
          <a:pPr latinLnBrk="1"/>
          <a:endParaRPr lang="ko-KR" altLang="en-US"/>
        </a:p>
      </dgm:t>
    </dgm:pt>
    <dgm:pt modelId="{7BA187D4-DE98-4D4A-B840-A84872920A91}" type="sibTrans" cxnId="{F2BE47B8-4444-134F-A5FA-687D48A5E786}">
      <dgm:prSet/>
      <dgm:spPr/>
      <dgm:t>
        <a:bodyPr/>
        <a:lstStyle/>
        <a:p>
          <a:pPr latinLnBrk="1"/>
          <a:endParaRPr lang="ko-KR" altLang="en-US"/>
        </a:p>
      </dgm:t>
    </dgm:pt>
    <dgm:pt modelId="{1449F153-B344-644C-AE27-2E49E78C4F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/>
            <a:t>카메라 정보 캐싱</a:t>
          </a:r>
        </a:p>
      </dgm:t>
    </dgm:pt>
    <dgm:pt modelId="{B34F5D1C-923A-C241-A165-2D678989ADD5}" type="parTrans" cxnId="{18F0B210-E1DE-4941-AE56-94480C075529}">
      <dgm:prSet/>
      <dgm:spPr/>
      <dgm:t>
        <a:bodyPr/>
        <a:lstStyle/>
        <a:p>
          <a:pPr latinLnBrk="1"/>
          <a:endParaRPr lang="ko-KR" altLang="en-US"/>
        </a:p>
      </dgm:t>
    </dgm:pt>
    <dgm:pt modelId="{033FFB78-EF50-184C-9024-CCA7C3095717}" type="sibTrans" cxnId="{18F0B210-E1DE-4941-AE56-94480C07552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ko-KR" altLang="en-US"/>
        </a:p>
      </dgm:t>
    </dgm:pt>
    <dgm:pt modelId="{4E4363D3-7B9E-6F4E-BBDB-12F6810AE52F}">
      <dgm:prSet/>
      <dgm:spPr/>
      <dgm:t>
        <a:bodyPr/>
        <a:lstStyle/>
        <a:p>
          <a:pPr>
            <a:lnSpc>
              <a:spcPct val="100000"/>
            </a:lnSpc>
          </a:pPr>
          <a:r>
            <a:rPr lang="ko-KR"/>
            <a:t>카메라 정보를 캐싱하여 반복적인 연산 없이 효율적으로 크기 변환을 지원합니다.</a:t>
          </a:r>
        </a:p>
      </dgm:t>
    </dgm:pt>
    <dgm:pt modelId="{5390AA15-4165-E544-AC4A-1D5AB4BE5271}" type="parTrans" cxnId="{2D79761F-5AA5-874A-A97E-BDF819D8DEAF}">
      <dgm:prSet/>
      <dgm:spPr/>
      <dgm:t>
        <a:bodyPr/>
        <a:lstStyle/>
        <a:p>
          <a:pPr latinLnBrk="1"/>
          <a:endParaRPr lang="ko-KR" altLang="en-US"/>
        </a:p>
      </dgm:t>
    </dgm:pt>
    <dgm:pt modelId="{F24D4FCA-A152-3E45-94B1-07AA2ADC9FA5}" type="sibTrans" cxnId="{2D79761F-5AA5-874A-A97E-BDF819D8DEAF}">
      <dgm:prSet/>
      <dgm:spPr/>
      <dgm:t>
        <a:bodyPr/>
        <a:lstStyle/>
        <a:p>
          <a:pPr latinLnBrk="1"/>
          <a:endParaRPr lang="ko-KR" altLang="en-US"/>
        </a:p>
      </dgm:t>
    </dgm:pt>
    <dgm:pt modelId="{7E86F6E3-74FD-AA40-96B6-55601BB8A8B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/>
            <a:t>범용 유틸리티 제공</a:t>
          </a:r>
        </a:p>
      </dgm:t>
    </dgm:pt>
    <dgm:pt modelId="{A9B97CD5-5829-BE4B-B853-C4151F1E2EEE}" type="parTrans" cxnId="{85AF7B55-FDF7-DC40-8298-BD436622B350}">
      <dgm:prSet/>
      <dgm:spPr/>
      <dgm:t>
        <a:bodyPr/>
        <a:lstStyle/>
        <a:p>
          <a:pPr latinLnBrk="1"/>
          <a:endParaRPr lang="ko-KR" altLang="en-US"/>
        </a:p>
      </dgm:t>
    </dgm:pt>
    <dgm:pt modelId="{B0A5BCD1-E72F-2D40-9175-1B0FD74CB7F6}" type="sibTrans" cxnId="{85AF7B55-FDF7-DC40-8298-BD436622B350}">
      <dgm:prSet/>
      <dgm:spPr/>
      <dgm:t>
        <a:bodyPr/>
        <a:lstStyle/>
        <a:p>
          <a:pPr latinLnBrk="1"/>
          <a:endParaRPr lang="ko-KR" altLang="en-US"/>
        </a:p>
      </dgm:t>
    </dgm:pt>
    <dgm:pt modelId="{DE1D3E86-270A-F340-B709-94CE971C0DE5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dirty="0"/>
            <a:t>기존 카메라 기반 방식과 달리 여러 환경에서 범용적으로 사용할 수 있는 유틸리티입니다.</a:t>
          </a:r>
        </a:p>
      </dgm:t>
    </dgm:pt>
    <dgm:pt modelId="{1D62A23E-88E0-DB49-8E4A-202BF74880EB}" type="parTrans" cxnId="{1939873E-F64A-4A45-8A34-211EE3C68636}">
      <dgm:prSet/>
      <dgm:spPr/>
      <dgm:t>
        <a:bodyPr/>
        <a:lstStyle/>
        <a:p>
          <a:pPr latinLnBrk="1"/>
          <a:endParaRPr lang="ko-KR" altLang="en-US"/>
        </a:p>
      </dgm:t>
    </dgm:pt>
    <dgm:pt modelId="{5990348F-4A43-B14B-A277-101564F92339}" type="sibTrans" cxnId="{1939873E-F64A-4A45-8A34-211EE3C68636}">
      <dgm:prSet/>
      <dgm:spPr/>
      <dgm:t>
        <a:bodyPr/>
        <a:lstStyle/>
        <a:p>
          <a:pPr latinLnBrk="1"/>
          <a:endParaRPr lang="ko-KR" altLang="en-US"/>
        </a:p>
      </dgm:t>
    </dgm:pt>
    <dgm:pt modelId="{3CEAC7F8-C1E4-42D8-87E2-5FB1CF46B19B}" type="pres">
      <dgm:prSet presAssocID="{ABF7B16D-4A24-414E-8E6F-0D7D5C206485}" presName="Root" presStyleCnt="0">
        <dgm:presLayoutVars>
          <dgm:dir/>
          <dgm:resizeHandles val="exact"/>
        </dgm:presLayoutVars>
      </dgm:prSet>
      <dgm:spPr/>
    </dgm:pt>
    <dgm:pt modelId="{5A7C641B-B1B7-4FD7-8286-DD73FE9C18D5}" type="pres">
      <dgm:prSet presAssocID="{4AC07AA9-E286-EE40-9589-405E48EC9017}" presName="Composite" presStyleCnt="0"/>
      <dgm:spPr/>
    </dgm:pt>
    <dgm:pt modelId="{1CD270B6-0539-455C-9C69-CA68BD2E4D1B}" type="pres">
      <dgm:prSet presAssocID="{4AC07AA9-E286-EE40-9589-405E48EC9017}" presName="Picture" presStyleLbl="nod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EA060C8-091B-4920-B199-D9CAC02DAB4B}" type="pres">
      <dgm:prSet presAssocID="{4AC07AA9-E286-EE40-9589-405E48EC9017}" presName="Subtitle" presStyleLbl="revTx" presStyleIdx="0" presStyleCnt="6">
        <dgm:presLayoutVars>
          <dgm:chMax val="0"/>
          <dgm:bulletEnabled/>
        </dgm:presLayoutVars>
      </dgm:prSet>
      <dgm:spPr/>
    </dgm:pt>
    <dgm:pt modelId="{056D79F3-6034-465F-9504-B971F2BFF506}" type="pres">
      <dgm:prSet presAssocID="{4AC07AA9-E286-EE40-9589-405E48EC9017}" presName="Description" presStyleLbl="revTx" presStyleIdx="1" presStyleCnt="6">
        <dgm:presLayoutVars>
          <dgm:bulletEnabled/>
        </dgm:presLayoutVars>
      </dgm:prSet>
      <dgm:spPr/>
    </dgm:pt>
    <dgm:pt modelId="{686424D3-8895-4F61-92D4-EF871D1BED29}" type="pres">
      <dgm:prSet presAssocID="{10E6061D-522E-E944-B0A9-4B5D2BE72E08}" presName="sibTrans" presStyleLbl="sibTrans2D1" presStyleIdx="0" presStyleCnt="0"/>
      <dgm:spPr/>
    </dgm:pt>
    <dgm:pt modelId="{76105C35-D472-4C2B-8F41-FD5F8D7FCBC4}" type="pres">
      <dgm:prSet presAssocID="{1449F153-B344-644C-AE27-2E49E78C4FBB}" presName="Composite" presStyleCnt="0"/>
      <dgm:spPr/>
    </dgm:pt>
    <dgm:pt modelId="{4E1ACF0A-86CA-4DE0-96A2-E21A8A0A93E3}" type="pres">
      <dgm:prSet presAssocID="{1449F153-B344-644C-AE27-2E49E78C4FBB}" presName="Picture" presStyleLbl="node1" presStyleIdx="1" presStyleCnt="3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D2B3466F-54BE-4D34-80C5-356440470453}" type="pres">
      <dgm:prSet presAssocID="{1449F153-B344-644C-AE27-2E49E78C4FBB}" presName="Subtitle" presStyleLbl="revTx" presStyleIdx="2" presStyleCnt="6">
        <dgm:presLayoutVars>
          <dgm:chMax val="0"/>
          <dgm:bulletEnabled/>
        </dgm:presLayoutVars>
      </dgm:prSet>
      <dgm:spPr/>
    </dgm:pt>
    <dgm:pt modelId="{ED7D4987-16C2-4E69-9C8F-6DB55D2C08CB}" type="pres">
      <dgm:prSet presAssocID="{1449F153-B344-644C-AE27-2E49E78C4FBB}" presName="Description" presStyleLbl="revTx" presStyleIdx="3" presStyleCnt="6">
        <dgm:presLayoutVars>
          <dgm:bulletEnabled/>
        </dgm:presLayoutVars>
      </dgm:prSet>
      <dgm:spPr/>
    </dgm:pt>
    <dgm:pt modelId="{D5F69BDA-604D-41A1-B924-D441D67C4353}" type="pres">
      <dgm:prSet presAssocID="{033FFB78-EF50-184C-9024-CCA7C3095717}" presName="sibTrans" presStyleLbl="sibTrans2D1" presStyleIdx="0" presStyleCnt="0"/>
      <dgm:spPr/>
    </dgm:pt>
    <dgm:pt modelId="{7632C5EC-BF40-4578-82A5-C434AF9ADE81}" type="pres">
      <dgm:prSet presAssocID="{7E86F6E3-74FD-AA40-96B6-55601BB8A8BF}" presName="Composite" presStyleCnt="0"/>
      <dgm:spPr/>
    </dgm:pt>
    <dgm:pt modelId="{D6A7DD48-0573-4305-A92E-1B7D10E39986}" type="pres">
      <dgm:prSet presAssocID="{7E86F6E3-74FD-AA40-96B6-55601BB8A8BF}" presName="Picture" presStyleLbl="nod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54F7EEB7-243E-4414-A14E-5820B94A5988}" type="pres">
      <dgm:prSet presAssocID="{7E86F6E3-74FD-AA40-96B6-55601BB8A8BF}" presName="Subtitle" presStyleLbl="revTx" presStyleIdx="4" presStyleCnt="6">
        <dgm:presLayoutVars>
          <dgm:chMax val="0"/>
          <dgm:bulletEnabled/>
        </dgm:presLayoutVars>
      </dgm:prSet>
      <dgm:spPr/>
    </dgm:pt>
    <dgm:pt modelId="{D53F6389-0C61-41CA-8035-AF52DB27BFAE}" type="pres">
      <dgm:prSet presAssocID="{7E86F6E3-74FD-AA40-96B6-55601BB8A8BF}" presName="Description" presStyleLbl="revTx" presStyleIdx="5" presStyleCnt="6">
        <dgm:presLayoutVars>
          <dgm:bulletEnabled/>
        </dgm:presLayoutVars>
      </dgm:prSet>
      <dgm:spPr/>
    </dgm:pt>
  </dgm:ptLst>
  <dgm:cxnLst>
    <dgm:cxn modelId="{18F0B210-E1DE-4941-AE56-94480C075529}" srcId="{ABF7B16D-4A24-414E-8E6F-0D7D5C206485}" destId="{1449F153-B344-644C-AE27-2E49E78C4FBB}" srcOrd="1" destOrd="0" parTransId="{B34F5D1C-923A-C241-A165-2D678989ADD5}" sibTransId="{033FFB78-EF50-184C-9024-CCA7C3095717}"/>
    <dgm:cxn modelId="{C9A1C512-187B-0B49-85BC-D21665D0909C}" type="presOf" srcId="{033FFB78-EF50-184C-9024-CCA7C3095717}" destId="{D5F69BDA-604D-41A1-B924-D441D67C4353}" srcOrd="0" destOrd="0" presId="urn:microsoft.com/office/officeart/2024/3/layout/verticalVisualTextBlock1"/>
    <dgm:cxn modelId="{5A6BF318-E1F4-9B4C-BEC3-EB5ABDC9FAAD}" type="presOf" srcId="{10E6061D-522E-E944-B0A9-4B5D2BE72E08}" destId="{686424D3-8895-4F61-92D4-EF871D1BED29}" srcOrd="0" destOrd="0" presId="urn:microsoft.com/office/officeart/2024/3/layout/verticalVisualTextBlock1"/>
    <dgm:cxn modelId="{1726F01E-A7D7-BA49-A613-1BE1FFC71FE3}" type="presOf" srcId="{4AC07AA9-E286-EE40-9589-405E48EC9017}" destId="{5EA060C8-091B-4920-B199-D9CAC02DAB4B}" srcOrd="0" destOrd="0" presId="urn:microsoft.com/office/officeart/2024/3/layout/verticalVisualTextBlock1"/>
    <dgm:cxn modelId="{2D79761F-5AA5-874A-A97E-BDF819D8DEAF}" srcId="{1449F153-B344-644C-AE27-2E49E78C4FBB}" destId="{4E4363D3-7B9E-6F4E-BBDB-12F6810AE52F}" srcOrd="0" destOrd="0" parTransId="{5390AA15-4165-E544-AC4A-1D5AB4BE5271}" sibTransId="{F24D4FCA-A152-3E45-94B1-07AA2ADC9FA5}"/>
    <dgm:cxn modelId="{92B7A01F-3E74-4F4D-9A24-732E290D1722}" srcId="{ABF7B16D-4A24-414E-8E6F-0D7D5C206485}" destId="{4AC07AA9-E286-EE40-9589-405E48EC9017}" srcOrd="0" destOrd="0" parTransId="{49237E6D-2A84-D94A-BB44-DAC6B915C478}" sibTransId="{10E6061D-522E-E944-B0A9-4B5D2BE72E08}"/>
    <dgm:cxn modelId="{4F386F22-D7A0-8743-BCAE-E70D93D93932}" type="presOf" srcId="{7E86F6E3-74FD-AA40-96B6-55601BB8A8BF}" destId="{54F7EEB7-243E-4414-A14E-5820B94A5988}" srcOrd="0" destOrd="0" presId="urn:microsoft.com/office/officeart/2024/3/layout/verticalVisualTextBlock1"/>
    <dgm:cxn modelId="{1939873E-F64A-4A45-8A34-211EE3C68636}" srcId="{7E86F6E3-74FD-AA40-96B6-55601BB8A8BF}" destId="{DE1D3E86-270A-F340-B709-94CE971C0DE5}" srcOrd="0" destOrd="0" parTransId="{1D62A23E-88E0-DB49-8E4A-202BF74880EB}" sibTransId="{5990348F-4A43-B14B-A277-101564F92339}"/>
    <dgm:cxn modelId="{65D99A54-0F7E-E248-924F-52828852DC7A}" type="presOf" srcId="{369AB35A-6B91-AD41-8B0B-F363BF447369}" destId="{056D79F3-6034-465F-9504-B971F2BFF506}" srcOrd="0" destOrd="0" presId="urn:microsoft.com/office/officeart/2024/3/layout/verticalVisualTextBlock1"/>
    <dgm:cxn modelId="{85AF7B55-FDF7-DC40-8298-BD436622B350}" srcId="{ABF7B16D-4A24-414E-8E6F-0D7D5C206485}" destId="{7E86F6E3-74FD-AA40-96B6-55601BB8A8BF}" srcOrd="2" destOrd="0" parTransId="{A9B97CD5-5829-BE4B-B853-C4151F1E2EEE}" sibTransId="{B0A5BCD1-E72F-2D40-9175-1B0FD74CB7F6}"/>
    <dgm:cxn modelId="{66F64576-6C71-3B48-AB24-E3879F619850}" type="presOf" srcId="{1449F153-B344-644C-AE27-2E49E78C4FBB}" destId="{D2B3466F-54BE-4D34-80C5-356440470453}" srcOrd="0" destOrd="0" presId="urn:microsoft.com/office/officeart/2024/3/layout/verticalVisualTextBlock1"/>
    <dgm:cxn modelId="{3E1061AC-1D50-CE43-9FC0-037ECC3E43D1}" type="presOf" srcId="{ABF7B16D-4A24-414E-8E6F-0D7D5C206485}" destId="{3CEAC7F8-C1E4-42D8-87E2-5FB1CF46B19B}" srcOrd="0" destOrd="0" presId="urn:microsoft.com/office/officeart/2024/3/layout/verticalVisualTextBlock1"/>
    <dgm:cxn modelId="{F2BE47B8-4444-134F-A5FA-687D48A5E786}" srcId="{4AC07AA9-E286-EE40-9589-405E48EC9017}" destId="{369AB35A-6B91-AD41-8B0B-F363BF447369}" srcOrd="0" destOrd="0" parTransId="{DD4DDF1F-BCF9-174F-9D7C-94322B645A26}" sibTransId="{7BA187D4-DE98-4D4A-B840-A84872920A91}"/>
    <dgm:cxn modelId="{4CEB8DCB-5C8E-084E-8DF3-8C44C03843A3}" type="presOf" srcId="{4E4363D3-7B9E-6F4E-BBDB-12F6810AE52F}" destId="{ED7D4987-16C2-4E69-9C8F-6DB55D2C08CB}" srcOrd="0" destOrd="0" presId="urn:microsoft.com/office/officeart/2024/3/layout/verticalVisualTextBlock1"/>
    <dgm:cxn modelId="{CBAAD8D2-4A8A-1649-BDD4-92264B37B041}" type="presOf" srcId="{DE1D3E86-270A-F340-B709-94CE971C0DE5}" destId="{D53F6389-0C61-41CA-8035-AF52DB27BFAE}" srcOrd="0" destOrd="0" presId="urn:microsoft.com/office/officeart/2024/3/layout/verticalVisualTextBlock1"/>
    <dgm:cxn modelId="{F0B87024-B716-E54B-965A-4C562883AADB}" type="presParOf" srcId="{3CEAC7F8-C1E4-42D8-87E2-5FB1CF46B19B}" destId="{5A7C641B-B1B7-4FD7-8286-DD73FE9C18D5}" srcOrd="0" destOrd="0" presId="urn:microsoft.com/office/officeart/2024/3/layout/verticalVisualTextBlock1"/>
    <dgm:cxn modelId="{54AE0BB8-56CC-CE4C-92FB-3FC339D693F9}" type="presParOf" srcId="{5A7C641B-B1B7-4FD7-8286-DD73FE9C18D5}" destId="{1CD270B6-0539-455C-9C69-CA68BD2E4D1B}" srcOrd="0" destOrd="0" presId="urn:microsoft.com/office/officeart/2024/3/layout/verticalVisualTextBlock1"/>
    <dgm:cxn modelId="{E6EB6502-A8E3-D947-929A-B2912A1F1654}" type="presParOf" srcId="{5A7C641B-B1B7-4FD7-8286-DD73FE9C18D5}" destId="{5EA060C8-091B-4920-B199-D9CAC02DAB4B}" srcOrd="1" destOrd="0" presId="urn:microsoft.com/office/officeart/2024/3/layout/verticalVisualTextBlock1"/>
    <dgm:cxn modelId="{C67FE95A-6ECB-E84B-BD3A-91E731C5CD5C}" type="presParOf" srcId="{5A7C641B-B1B7-4FD7-8286-DD73FE9C18D5}" destId="{056D79F3-6034-465F-9504-B971F2BFF506}" srcOrd="2" destOrd="0" presId="urn:microsoft.com/office/officeart/2024/3/layout/verticalVisualTextBlock1"/>
    <dgm:cxn modelId="{E1B957DF-5F8E-5042-9823-C290C7F8A44C}" type="presParOf" srcId="{3CEAC7F8-C1E4-42D8-87E2-5FB1CF46B19B}" destId="{686424D3-8895-4F61-92D4-EF871D1BED29}" srcOrd="1" destOrd="0" presId="urn:microsoft.com/office/officeart/2024/3/layout/verticalVisualTextBlock1"/>
    <dgm:cxn modelId="{1673686B-7E62-884B-9870-CD443DF95822}" type="presParOf" srcId="{3CEAC7F8-C1E4-42D8-87E2-5FB1CF46B19B}" destId="{76105C35-D472-4C2B-8F41-FD5F8D7FCBC4}" srcOrd="2" destOrd="0" presId="urn:microsoft.com/office/officeart/2024/3/layout/verticalVisualTextBlock1"/>
    <dgm:cxn modelId="{00A80E31-9E17-F34F-B1B4-9CD51F780B91}" type="presParOf" srcId="{76105C35-D472-4C2B-8F41-FD5F8D7FCBC4}" destId="{4E1ACF0A-86CA-4DE0-96A2-E21A8A0A93E3}" srcOrd="0" destOrd="0" presId="urn:microsoft.com/office/officeart/2024/3/layout/verticalVisualTextBlock1"/>
    <dgm:cxn modelId="{E105B3D1-011F-D94B-88E0-D73FE6C44510}" type="presParOf" srcId="{76105C35-D472-4C2B-8F41-FD5F8D7FCBC4}" destId="{D2B3466F-54BE-4D34-80C5-356440470453}" srcOrd="1" destOrd="0" presId="urn:microsoft.com/office/officeart/2024/3/layout/verticalVisualTextBlock1"/>
    <dgm:cxn modelId="{DCF3439B-924C-1346-80DF-56170D7F58F0}" type="presParOf" srcId="{76105C35-D472-4C2B-8F41-FD5F8D7FCBC4}" destId="{ED7D4987-16C2-4E69-9C8F-6DB55D2C08CB}" srcOrd="2" destOrd="0" presId="urn:microsoft.com/office/officeart/2024/3/layout/verticalVisualTextBlock1"/>
    <dgm:cxn modelId="{ADE2293C-C3F3-8643-8ED3-0700F41DE727}" type="presParOf" srcId="{3CEAC7F8-C1E4-42D8-87E2-5FB1CF46B19B}" destId="{D5F69BDA-604D-41A1-B924-D441D67C4353}" srcOrd="3" destOrd="0" presId="urn:microsoft.com/office/officeart/2024/3/layout/verticalVisualTextBlock1"/>
    <dgm:cxn modelId="{5AEBB074-56D8-2745-9307-D80ED54A0F38}" type="presParOf" srcId="{3CEAC7F8-C1E4-42D8-87E2-5FB1CF46B19B}" destId="{7632C5EC-BF40-4578-82A5-C434AF9ADE81}" srcOrd="4" destOrd="0" presId="urn:microsoft.com/office/officeart/2024/3/layout/verticalVisualTextBlock1"/>
    <dgm:cxn modelId="{6C1B709F-9B92-5944-BDE4-C6F3927A9147}" type="presParOf" srcId="{7632C5EC-BF40-4578-82A5-C434AF9ADE81}" destId="{D6A7DD48-0573-4305-A92E-1B7D10E39986}" srcOrd="0" destOrd="0" presId="urn:microsoft.com/office/officeart/2024/3/layout/verticalVisualTextBlock1"/>
    <dgm:cxn modelId="{5C928FA2-9F66-6248-B8F8-0431003F4529}" type="presParOf" srcId="{7632C5EC-BF40-4578-82A5-C434AF9ADE81}" destId="{54F7EEB7-243E-4414-A14E-5820B94A5988}" srcOrd="1" destOrd="0" presId="urn:microsoft.com/office/officeart/2024/3/layout/verticalVisualTextBlock1"/>
    <dgm:cxn modelId="{9730F2C6-0AD0-D043-AAB1-A052B0E669FE}" type="presParOf" srcId="{7632C5EC-BF40-4578-82A5-C434AF9ADE81}" destId="{D53F6389-0C61-41CA-8035-AF52DB27BFAE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97DAF-7099-4C16-BFD5-3ADE1DB3494D}">
      <dsp:nvSpPr>
        <dsp:cNvPr id="0" name=""/>
        <dsp:cNvSpPr/>
      </dsp:nvSpPr>
      <dsp:spPr>
        <a:xfrm>
          <a:off x="0" y="0"/>
          <a:ext cx="1854553" cy="185455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602BD3-DF45-49B7-9CE0-ED9A2624EE30}">
      <dsp:nvSpPr>
        <dsp:cNvPr id="0" name=""/>
        <dsp:cNvSpPr/>
      </dsp:nvSpPr>
      <dsp:spPr>
        <a:xfrm>
          <a:off x="2034553" y="0"/>
          <a:ext cx="4155226" cy="46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kern="1200" dirty="0"/>
            <a:t>실제 크기 추정 방식</a:t>
          </a:r>
        </a:p>
      </dsp:txBody>
      <dsp:txXfrm>
        <a:off x="2034553" y="0"/>
        <a:ext cx="4155226" cy="462324"/>
      </dsp:txXfrm>
    </dsp:sp>
    <dsp:sp modelId="{8EDD16E4-C0BE-4431-992F-9F270E066EE5}">
      <dsp:nvSpPr>
        <dsp:cNvPr id="0" name=""/>
        <dsp:cNvSpPr/>
      </dsp:nvSpPr>
      <dsp:spPr>
        <a:xfrm>
          <a:off x="2034553" y="462324"/>
          <a:ext cx="4155226" cy="1392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/>
            <a:t>YOLOv5 감지, </a:t>
          </a:r>
          <a:r>
            <a:rPr lang="ko-KR" sz="1400" kern="1200" dirty="0" err="1"/>
            <a:t>LiDAR</a:t>
          </a:r>
          <a:r>
            <a:rPr lang="ko-KR" sz="1400" kern="1200" dirty="0"/>
            <a:t> 또는 깊이센서 거리, 카메라 내</a:t>
          </a:r>
          <a:r>
            <a:rPr lang="en-US" altLang="ko-KR" sz="1400" kern="1200" dirty="0"/>
            <a:t> </a:t>
          </a:r>
          <a:r>
            <a:rPr lang="ko-KR" sz="1400" kern="1200" dirty="0"/>
            <a:t>파라미터를 활용하여 물체의 실제 크기를 추정합니다.</a:t>
          </a:r>
        </a:p>
      </dsp:txBody>
      <dsp:txXfrm>
        <a:off x="2034553" y="462324"/>
        <a:ext cx="4155226" cy="1392228"/>
      </dsp:txXfrm>
    </dsp:sp>
    <dsp:sp modelId="{D7C8B5C9-B815-4F59-AC28-6F9952DBF988}">
      <dsp:nvSpPr>
        <dsp:cNvPr id="0" name=""/>
        <dsp:cNvSpPr/>
      </dsp:nvSpPr>
      <dsp:spPr>
        <a:xfrm>
          <a:off x="0" y="2002917"/>
          <a:ext cx="1854553" cy="1854553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BE8E2F-72F2-4672-8664-56A94264C12F}">
      <dsp:nvSpPr>
        <dsp:cNvPr id="0" name=""/>
        <dsp:cNvSpPr/>
      </dsp:nvSpPr>
      <dsp:spPr>
        <a:xfrm>
          <a:off x="2034553" y="2002917"/>
          <a:ext cx="4155226" cy="46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kern="1200" dirty="0" err="1"/>
            <a:t>기준값과</a:t>
          </a:r>
          <a:r>
            <a:rPr lang="ko-KR" sz="1800" kern="1200" dirty="0"/>
            <a:t> 허용 오차</a:t>
          </a:r>
        </a:p>
      </dsp:txBody>
      <dsp:txXfrm>
        <a:off x="2034553" y="2002917"/>
        <a:ext cx="4155226" cy="462324"/>
      </dsp:txXfrm>
    </dsp:sp>
    <dsp:sp modelId="{441A822A-D314-4C5D-965E-601F78D6BC54}">
      <dsp:nvSpPr>
        <dsp:cNvPr id="0" name=""/>
        <dsp:cNvSpPr/>
      </dsp:nvSpPr>
      <dsp:spPr>
        <a:xfrm>
          <a:off x="2034553" y="2465241"/>
          <a:ext cx="4155226" cy="1392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/>
            <a:t>추정된 크기가 우체국 4호 상자의 </a:t>
          </a:r>
          <a:r>
            <a:rPr lang="ko-KR" sz="1400" kern="1200" dirty="0" err="1"/>
            <a:t>기준값과</a:t>
          </a:r>
          <a:r>
            <a:rPr lang="ko-KR" sz="1400" kern="1200" dirty="0"/>
            <a:t> ±10cm 오차 내에 있으면 해당 물체로 판별합니다.</a:t>
          </a:r>
        </a:p>
      </dsp:txBody>
      <dsp:txXfrm>
        <a:off x="2034553" y="2465241"/>
        <a:ext cx="4155226" cy="1392228"/>
      </dsp:txXfrm>
    </dsp:sp>
    <dsp:sp modelId="{C8F00185-FFC9-413C-A7A1-2136C0707DBE}">
      <dsp:nvSpPr>
        <dsp:cNvPr id="0" name=""/>
        <dsp:cNvSpPr/>
      </dsp:nvSpPr>
      <dsp:spPr>
        <a:xfrm>
          <a:off x="0" y="4005834"/>
          <a:ext cx="1854553" cy="1854553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407801-05EF-4318-A606-A0539977D3B6}">
      <dsp:nvSpPr>
        <dsp:cNvPr id="0" name=""/>
        <dsp:cNvSpPr/>
      </dsp:nvSpPr>
      <dsp:spPr>
        <a:xfrm>
          <a:off x="2034553" y="4005834"/>
          <a:ext cx="4155226" cy="46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kern="1200"/>
            <a:t>정확한 객체 필터링</a:t>
          </a:r>
        </a:p>
      </dsp:txBody>
      <dsp:txXfrm>
        <a:off x="2034553" y="4005834"/>
        <a:ext cx="4155226" cy="462324"/>
      </dsp:txXfrm>
    </dsp:sp>
    <dsp:sp modelId="{F8856DB2-BFCB-47AB-BE32-330A9635C9B0}">
      <dsp:nvSpPr>
        <dsp:cNvPr id="0" name=""/>
        <dsp:cNvSpPr/>
      </dsp:nvSpPr>
      <dsp:spPr>
        <a:xfrm>
          <a:off x="2034553" y="4468159"/>
          <a:ext cx="4155226" cy="1392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/>
            <a:t>이 방법을 통해 목표 Object만을 정확하게 필터링할 수 있습니다.</a:t>
          </a:r>
        </a:p>
      </dsp:txBody>
      <dsp:txXfrm>
        <a:off x="2034553" y="4468159"/>
        <a:ext cx="4155226" cy="1392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270B6-0539-455C-9C69-CA68BD2E4D1B}">
      <dsp:nvSpPr>
        <dsp:cNvPr id="0" name=""/>
        <dsp:cNvSpPr/>
      </dsp:nvSpPr>
      <dsp:spPr>
        <a:xfrm>
          <a:off x="0" y="0"/>
          <a:ext cx="1854553" cy="185455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A060C8-091B-4920-B199-D9CAC02DAB4B}">
      <dsp:nvSpPr>
        <dsp:cNvPr id="0" name=""/>
        <dsp:cNvSpPr/>
      </dsp:nvSpPr>
      <dsp:spPr>
        <a:xfrm>
          <a:off x="2034553" y="0"/>
          <a:ext cx="4155226" cy="46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kern="1200"/>
            <a:t>픽셀-실제 크기 변환</a:t>
          </a:r>
        </a:p>
      </dsp:txBody>
      <dsp:txXfrm>
        <a:off x="2034553" y="0"/>
        <a:ext cx="4155226" cy="462324"/>
      </dsp:txXfrm>
    </dsp:sp>
    <dsp:sp modelId="{056D79F3-6034-465F-9504-B971F2BFF506}">
      <dsp:nvSpPr>
        <dsp:cNvPr id="0" name=""/>
        <dsp:cNvSpPr/>
      </dsp:nvSpPr>
      <dsp:spPr>
        <a:xfrm>
          <a:off x="2034553" y="462324"/>
          <a:ext cx="4155226" cy="1392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 err="1"/>
            <a:t>BoxSizeHelper는</a:t>
          </a:r>
          <a:r>
            <a:rPr lang="ko-KR" sz="1400" kern="1200" dirty="0"/>
            <a:t> 픽셀 크기와 실제 물리적 크기 간의 변환을 간편하게 처리할 수 있습니다.</a:t>
          </a:r>
          <a:endParaRPr lang="en-US" altLang="ko-K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이후 작성될 전체 스크립트 중 목표탐지에 사용됩니다</a:t>
          </a:r>
          <a:r>
            <a:rPr lang="en-US" altLang="ko-KR" sz="1400" kern="1200" dirty="0"/>
            <a:t>.</a:t>
          </a:r>
          <a:endParaRPr lang="ko-KR" sz="1400" kern="1200" dirty="0"/>
        </a:p>
      </dsp:txBody>
      <dsp:txXfrm>
        <a:off x="2034553" y="462324"/>
        <a:ext cx="4155226" cy="1392228"/>
      </dsp:txXfrm>
    </dsp:sp>
    <dsp:sp modelId="{4E1ACF0A-86CA-4DE0-96A2-E21A8A0A93E3}">
      <dsp:nvSpPr>
        <dsp:cNvPr id="0" name=""/>
        <dsp:cNvSpPr/>
      </dsp:nvSpPr>
      <dsp:spPr>
        <a:xfrm>
          <a:off x="0" y="2002917"/>
          <a:ext cx="1854553" cy="1854553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B3466F-54BE-4D34-80C5-356440470453}">
      <dsp:nvSpPr>
        <dsp:cNvPr id="0" name=""/>
        <dsp:cNvSpPr/>
      </dsp:nvSpPr>
      <dsp:spPr>
        <a:xfrm>
          <a:off x="2034553" y="2002917"/>
          <a:ext cx="4155226" cy="46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kern="1200"/>
            <a:t>카메라 정보 캐싱</a:t>
          </a:r>
        </a:p>
      </dsp:txBody>
      <dsp:txXfrm>
        <a:off x="2034553" y="2002917"/>
        <a:ext cx="4155226" cy="462324"/>
      </dsp:txXfrm>
    </dsp:sp>
    <dsp:sp modelId="{ED7D4987-16C2-4E69-9C8F-6DB55D2C08CB}">
      <dsp:nvSpPr>
        <dsp:cNvPr id="0" name=""/>
        <dsp:cNvSpPr/>
      </dsp:nvSpPr>
      <dsp:spPr>
        <a:xfrm>
          <a:off x="2034553" y="2465241"/>
          <a:ext cx="4155226" cy="1392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/>
            <a:t>카메라 정보를 캐싱하여 반복적인 연산 없이 효율적으로 크기 변환을 지원합니다.</a:t>
          </a:r>
        </a:p>
      </dsp:txBody>
      <dsp:txXfrm>
        <a:off x="2034553" y="2465241"/>
        <a:ext cx="4155226" cy="1392228"/>
      </dsp:txXfrm>
    </dsp:sp>
    <dsp:sp modelId="{D6A7DD48-0573-4305-A92E-1B7D10E39986}">
      <dsp:nvSpPr>
        <dsp:cNvPr id="0" name=""/>
        <dsp:cNvSpPr/>
      </dsp:nvSpPr>
      <dsp:spPr>
        <a:xfrm>
          <a:off x="0" y="4005834"/>
          <a:ext cx="1854553" cy="1854553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F7EEB7-243E-4414-A14E-5820B94A5988}">
      <dsp:nvSpPr>
        <dsp:cNvPr id="0" name=""/>
        <dsp:cNvSpPr/>
      </dsp:nvSpPr>
      <dsp:spPr>
        <a:xfrm>
          <a:off x="2034553" y="4005834"/>
          <a:ext cx="4155226" cy="46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kern="1200"/>
            <a:t>범용 유틸리티 제공</a:t>
          </a:r>
        </a:p>
      </dsp:txBody>
      <dsp:txXfrm>
        <a:off x="2034553" y="4005834"/>
        <a:ext cx="4155226" cy="462324"/>
      </dsp:txXfrm>
    </dsp:sp>
    <dsp:sp modelId="{D53F6389-0C61-41CA-8035-AF52DB27BFAE}">
      <dsp:nvSpPr>
        <dsp:cNvPr id="0" name=""/>
        <dsp:cNvSpPr/>
      </dsp:nvSpPr>
      <dsp:spPr>
        <a:xfrm>
          <a:off x="2034553" y="4468159"/>
          <a:ext cx="4155226" cy="1392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/>
            <a:t>기존 카메라 기반 방식과 달리 여러 환경에서 범용적으로 사용할 수 있는 유틸리티입니다.</a:t>
          </a:r>
        </a:p>
      </dsp:txBody>
      <dsp:txXfrm>
        <a:off x="2034553" y="4468159"/>
        <a:ext cx="4155226" cy="1392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3553A-7095-B940-BD0F-FD400541F55D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FA70F-D5F9-CC4C-81BE-FABE0CE2F7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339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이미지 원본: Microsoft 365 콘텐츠 라이브러리
</a:t>
            </a:r>
            <a:r>
              <a:rPr lang="ko-KR" altLang="en-US" dirty="0" err="1"/>
              <a:t>new_func</a:t>
            </a:r>
            <a:r>
              <a:rPr lang="ko-KR" altLang="en-US" dirty="0"/>
              <a:t>/</a:t>
            </a:r>
            <a:r>
              <a:rPr lang="ko-KR" altLang="en-US" dirty="0" err="1"/>
              <a:t>detect_func.py는</a:t>
            </a:r>
            <a:r>
              <a:rPr lang="ko-KR" altLang="en-US" dirty="0"/>
              <a:t> YOLOv5가 감지한 </a:t>
            </a:r>
            <a:r>
              <a:rPr lang="ko-KR" altLang="en-US" dirty="0" err="1"/>
              <a:t>바운딩</a:t>
            </a:r>
            <a:r>
              <a:rPr lang="ko-KR" altLang="en-US" dirty="0"/>
              <a:t> 박스와 </a:t>
            </a:r>
            <a:r>
              <a:rPr lang="ko-KR" altLang="en-US" dirty="0" err="1"/>
              <a:t>LiDAR</a:t>
            </a:r>
            <a:r>
              <a:rPr lang="ko-KR" altLang="en-US" dirty="0"/>
              <a:t> 또는 깊이센서의 거리, 카메라 </a:t>
            </a:r>
            <a:r>
              <a:rPr lang="ko-KR" altLang="en-US" dirty="0" err="1"/>
              <a:t>내파라미터를</a:t>
            </a:r>
            <a:r>
              <a:rPr lang="ko-KR" altLang="en-US" dirty="0"/>
              <a:t> 활용해 물체의 실제 크기를 추정합니다. 추정된 크기가 우체국 4호 상자의 </a:t>
            </a:r>
            <a:r>
              <a:rPr lang="ko-KR" altLang="en-US" dirty="0" err="1"/>
              <a:t>기준값</a:t>
            </a:r>
            <a:r>
              <a:rPr lang="ko-KR" altLang="en-US" dirty="0"/>
              <a:t>(0.41×0.31×0.28m)과 ±10cm 허용 오차 내에 있으면 해당 물체로 판별합니다. 이렇게 목표 </a:t>
            </a:r>
            <a:r>
              <a:rPr lang="ko-KR" altLang="en-US" dirty="0" err="1"/>
              <a:t>Object를</a:t>
            </a:r>
            <a:r>
              <a:rPr lang="ko-KR" altLang="en-US" dirty="0"/>
              <a:t> 정확하게 필터링할 수 있습니다.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FA70F-D5F9-CC4C-81BE-FABE0CE2F7A4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844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이미지 원본: Microsoft 365 콘텐츠 라이브러리
YOLOv5로 탐지된 </a:t>
            </a:r>
            <a:r>
              <a:rPr lang="ko-KR" altLang="en-US" dirty="0" err="1"/>
              <a:t>bbox와</a:t>
            </a:r>
            <a:r>
              <a:rPr lang="ko-KR" altLang="en-US" dirty="0"/>
              <a:t> </a:t>
            </a:r>
            <a:r>
              <a:rPr lang="ko-KR" altLang="en-US" dirty="0" err="1"/>
              <a:t>LiDAR의</a:t>
            </a:r>
            <a:r>
              <a:rPr lang="ko-KR" altLang="en-US" dirty="0"/>
              <a:t> 거리 데이터를 이용해 실제 오브젝트 크기를 추정합니다. </a:t>
            </a:r>
            <a:r>
              <a:rPr lang="ko-KR" altLang="en-US" dirty="0" err="1"/>
              <a:t>입력값으로</a:t>
            </a:r>
            <a:r>
              <a:rPr lang="ko-KR" altLang="en-US" dirty="0"/>
              <a:t> </a:t>
            </a:r>
            <a:r>
              <a:rPr lang="ko-KR" altLang="en-US" dirty="0" err="1"/>
              <a:t>bbox</a:t>
            </a:r>
            <a:r>
              <a:rPr lang="ko-KR" altLang="en-US" dirty="0"/>
              <a:t> 좌표, 카메라 초점거리, 그리고 물체까지의 거리를 사용합니다. 핵심 수식은 </a:t>
            </a:r>
            <a:r>
              <a:rPr lang="ko-KR" altLang="en-US" dirty="0" err="1"/>
              <a:t>핀홀</a:t>
            </a:r>
            <a:r>
              <a:rPr lang="ko-KR" altLang="en-US" dirty="0"/>
              <a:t> 카메라 모델을 기반으로 하며, </a:t>
            </a:r>
            <a:r>
              <a:rPr lang="ko-KR" altLang="en-US" dirty="0" err="1"/>
              <a:t>bbox의</a:t>
            </a:r>
            <a:r>
              <a:rPr lang="ko-KR" altLang="en-US" dirty="0"/>
              <a:t> 픽셀 너비/높이를 실제 거리와 초점거리로 변환해 가로/세로 길이(</a:t>
            </a:r>
            <a:r>
              <a:rPr lang="ko-KR" altLang="en-US" dirty="0" err="1"/>
              <a:t>m</a:t>
            </a:r>
            <a:r>
              <a:rPr lang="ko-KR" altLang="en-US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산출합니다.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FA70F-D5F9-CC4C-81BE-FABE0CE2F7A4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9799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이미지 원본: Microsoft 365 콘텐츠 라이브러리
테스트 이미지를 중앙 정사각형으로 잘라 250×250으로 리사이즈하여 실제 환경을 재현합니다. 각 이미지에 실제 카메라–박스 거리 메타데이터를 설정합니다. YOLOv5와 크기 필터를 적용해 물리적 크기를 추정하고, 터미널 로그 및 시각화를 통해 필터 통과 여부를 확인하며 결과를 저장합니다.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FA70F-D5F9-CC4C-81BE-FABE0CE2F7A4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862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이미지 원본: Microsoft 365 콘텐츠 라이브러리
simple_lidar_yolo.py는 RGB 이미지와 LiDAR 데이터를 입력받아 목표 박스의 픽셀 크기와 실제 거리를 로그로 출력합니다. LiDAR는 전방 1° 각도의 최소 거리를 계산해 거리 정보를 제공합니다. YOLOv5는 가장 높은 신뢰도의 검출 결과를 선택하며, 로그로부터 픽셀 크기와 실제 거리의 관계를 데이터로 수집합니다.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FA70F-D5F9-CC4C-81BE-FABE0CE2F7A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6595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이미지 원본: Microsoft 365 콘텐츠 라이브러리
TurtleBot4의 자동 전진을 LiDAR로 구현하려 했으나, 전방 거리 측정이 불안정하고 지나치게 보수적이어서 잘 움직이지 않는 문제가 발생했습니다. 이에 수동 주행과 로그 수집 방식으로 전략을 변경했습니다. 또한, LiDAR로 우체국 박스와의 거리를 측정할 때 값이 들쑥날쑥하여, 픽셀-거리 회귀 데이터에 상당한 분산이 존재했습니다.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FA70F-D5F9-CC4C-81BE-FABE0CE2F7A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0201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이미지 원본: Microsoft 365 콘텐츠 라이브러리
BoxSizeHelper는 픽셀 크기와 실제 크기를 변환하는 데 초점을 맞춘 헬퍼 클래스입니다. 카메라 정보 캐싱, 여러 바운딩 박스 중 선택, 픽셀-미터 변환을 통합해 제공합니다. 기존 카메라 기반 방식과 달리 일반화된 유틸리티로 활용이 가능합니다.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FA70F-D5F9-CC4C-81BE-FABE0CE2F7A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6611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75B04-8D83-81A9-3C68-41793212E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DFD5CC-66A1-5A37-D65C-4BAE0E220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36AC09-5150-E7D7-53B8-CDB37C91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A4EF31-EFCE-2C19-EB66-E8A68ED7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92ACE4-4A62-7D5A-A75D-52250845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227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9EC94-4A08-0E63-C397-5B2539FB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F44915-85E9-E07A-FC69-19EC80C9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4F7D9-D505-B636-ED44-EAE460FD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888F61-5EBB-EA1C-6BC1-7DDB629C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9C089-21AC-7B77-64D3-E0A5813A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848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F4AE3-CD13-E3BF-41D0-9C8D1264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2B11A5-5C37-8629-9767-021A7244A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EA657-C118-1CC7-AF4F-08F94DB9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F6BC5-A52F-FCB7-DE37-5A0E43D4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A03B89-7D4A-1268-69B6-0F5BED22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123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62170-C5D7-F384-01A6-60ADFCD7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157C-FFBB-1588-F2AC-2CF54C836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87A11B-A5B7-2837-4DDA-930573127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A7A3BD-2698-1F95-C006-594BA5E3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540578-565C-EC39-2F92-8AA7562A8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02B273-533E-E889-63B1-E6734DDA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789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A1B89-7444-67A3-D01B-23CA7773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952D7-8186-92EC-ACD4-9C84000FC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2C86DE-D7CE-5151-E5B0-7B2194CC9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C536D6-F228-60CF-6D80-CDB729A91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294786-4C17-D477-612A-B2C0FCE1C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D442EB-F681-9C89-84F4-C878A75E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C818D6-50FF-BF5D-D023-5D79C4F5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D814E0-AB0D-C629-528A-72919F991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332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F60B1-3E0E-9141-3EC6-E3D4FB8F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F7D318-F378-166E-3080-D9480D37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A1C1E5-C85E-F744-AC27-7FB2B566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DB88F9-7FB7-4333-C5CD-CA9246F7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500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46BFDA-8843-DCA7-581F-AAD0BEC0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0B3C38-6877-5262-1F28-D5B33BE1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59239-F554-D3A7-CF58-4070E4AD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732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F6363-4128-B223-80AB-CC1A41E9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77969-62D9-7314-7CEF-1B05392F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31DD40-9F6E-D09F-AC68-4B0DDDB67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4F592B-7A7D-4843-828E-0C1322D33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B6EE30-D562-1A21-FE6C-5149BDE22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13C56B-359A-4692-1879-A12939057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874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9307E-E7BC-B8ED-2A3C-BF8AC906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A140C5-3699-3C85-A7A1-D97D3ABE1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95CD7A-7311-6846-F9C7-C529B2D25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7B54BB-C5D2-A356-AD51-F220BBBE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887E0A-D2BF-B970-2BAC-2038307C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236AA-7B5C-00D8-A88E-5ED2053B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200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E487C-4082-7458-2A38-A9080107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6342AB-8ABF-15D0-05A0-987938176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99E7F-3146-5033-06F1-D7959ED6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DD374-3688-A1CF-4EC5-AD14CA6C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A640EF-2429-2B01-FB64-A00035A8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2537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9B3AC9-61F3-4059-8733-044512CD2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BD471E-F6B0-BF0E-477E-C457A8A5B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F29C5-C74C-EEC7-A7C1-DDF699F0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BD7BFD-7BF9-5EE5-2AEC-36F36842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6673A9-A13A-4B20-5088-BA9D5D30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077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B56997-4AE9-CB32-43F7-4152D73E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3B098-7952-8B59-E07A-8FA8506F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EAB2FE-131E-F5A0-9303-340EC31E8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7D9BE-BD72-6A47-8490-A02CDAB0387C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EFD031-6FC7-A60A-B79B-B57A62698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FEE7F-E177-ED42-D5D1-3934F74D6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BFFB8-48F1-0C45-AC10-65A1A37C05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225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B3C62C-B980-0789-D07B-7A413678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실제 박스 크기 판별 방법</a:t>
            </a:r>
            <a:endParaRPr kumimoji="1" lang="ko-KR" altLang="en-US" dirty="0"/>
          </a:p>
        </p:txBody>
      </p:sp>
      <p:graphicFrame>
        <p:nvGraphicFramePr>
          <p:cNvPr id="4" name="내용 개체 틀 4">
            <a:extLst>
              <a:ext uri="{FF2B5EF4-FFF2-40B4-BE49-F238E27FC236}">
                <a16:creationId xmlns:a16="http://schemas.microsoft.com/office/drawing/2014/main" id="{C9D1317F-4709-4B8A-9936-4DFCFCB7A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36566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387542" y="548639"/>
          <a:ext cx="6189780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8524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D37646-C9F5-2B50-36AB-6FC69F14B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카메라 기반 크기 추정</a:t>
            </a:r>
            <a:endParaRPr kumimoji="1" lang="en-US" altLang="ko-KR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B513E9-4E3C-1677-7588-CEA2246F311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" sz="1400" b="1" dirty="0"/>
              <a:t>YOLOv5</a:t>
            </a:r>
            <a:r>
              <a:rPr lang="ko-KR" altLang="en-US" sz="1400" b="1" dirty="0"/>
              <a:t>와 </a:t>
            </a:r>
            <a:r>
              <a:rPr lang="en" sz="1400" b="1" dirty="0"/>
              <a:t>LiDAR </a:t>
            </a:r>
            <a:r>
              <a:rPr lang="ko-KR" altLang="en-US" sz="1400" b="1" dirty="0"/>
              <a:t>결합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" sz="1400" dirty="0"/>
              <a:t>YOLOv5</a:t>
            </a:r>
            <a:r>
              <a:rPr lang="ko-KR" altLang="en-US" sz="1400" dirty="0"/>
              <a:t>로 탐지된 객체와 </a:t>
            </a:r>
            <a:r>
              <a:rPr lang="en" sz="1400" dirty="0"/>
              <a:t>LiDAR </a:t>
            </a:r>
            <a:r>
              <a:rPr lang="ko-KR" altLang="en-US" sz="1400" dirty="0"/>
              <a:t>거리 데이터를 함께 사용하여 실세계에서 물체의 크기를 정확하게 산출합니다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 err="1"/>
              <a:t>핀홀</a:t>
            </a:r>
            <a:r>
              <a:rPr lang="ko-KR" altLang="en-US" sz="1400" b="1" dirty="0"/>
              <a:t> 카메라 모델 활용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핵심 수식은 </a:t>
            </a:r>
            <a:r>
              <a:rPr lang="ko-KR" altLang="en-US" sz="1400" dirty="0" err="1"/>
              <a:t>핀홀</a:t>
            </a:r>
            <a:r>
              <a:rPr lang="ko-KR" altLang="en-US" sz="1400" dirty="0"/>
              <a:t> 카메라 모델을 따르며</a:t>
            </a:r>
            <a:r>
              <a:rPr lang="en-US" altLang="ko-KR" sz="1400" dirty="0"/>
              <a:t>, </a:t>
            </a:r>
            <a:r>
              <a:rPr lang="ko-KR" altLang="en-US" sz="1400" dirty="0"/>
              <a:t>입력된 카메라 정보와 거리로 실제 크기를 계산합니다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실제 크기 산출 방법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" sz="1400" dirty="0" err="1"/>
              <a:t>bbox</a:t>
            </a:r>
            <a:r>
              <a:rPr lang="ko-KR" altLang="en-US" sz="1400" dirty="0"/>
              <a:t>의 픽셀 크기와 초점거리</a:t>
            </a:r>
            <a:r>
              <a:rPr lang="en-US" altLang="ko-KR" sz="1400" dirty="0"/>
              <a:t>, </a:t>
            </a:r>
            <a:r>
              <a:rPr lang="ko-KR" altLang="en-US" sz="1400" dirty="0"/>
              <a:t>거리 데이터를 변환하여 실제 물체의 가로</a:t>
            </a:r>
            <a:r>
              <a:rPr lang="en-US" altLang="ko-KR" sz="1400" dirty="0"/>
              <a:t>/</a:t>
            </a:r>
            <a:r>
              <a:rPr lang="ko-KR" altLang="en-US" sz="1400" dirty="0"/>
              <a:t>세로 길이</a:t>
            </a:r>
            <a:r>
              <a:rPr lang="en-US" altLang="ko-KR" sz="1400" dirty="0"/>
              <a:t>(</a:t>
            </a:r>
            <a:r>
              <a:rPr lang="en" sz="1400" dirty="0"/>
              <a:t>m)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추정합니다</a:t>
            </a:r>
            <a:r>
              <a:rPr lang="en-US" altLang="ko-KR" sz="1400" dirty="0"/>
              <a:t>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kumimoji="1" lang="en-US" altLang="ko-KR" sz="1400" dirty="0"/>
          </a:p>
          <a:p>
            <a:pPr marL="0" lvl="1" indent="0">
              <a:buNone/>
            </a:pPr>
            <a:r>
              <a:rPr lang="ko-KR" altLang="en-US" sz="1400" b="1" dirty="0"/>
              <a:t>크기 기반 타겟 판별</a:t>
            </a:r>
          </a:p>
          <a:p>
            <a:pPr marL="0" lvl="1" indent="0">
              <a:buNone/>
            </a:pPr>
            <a:r>
              <a:rPr lang="ko-KR" altLang="en-US" sz="1400" dirty="0"/>
              <a:t>전체 </a:t>
            </a:r>
            <a:r>
              <a:rPr lang="en-US" altLang="ko-KR" sz="1400" dirty="0"/>
              <a:t>Footprint(</a:t>
            </a:r>
            <a:r>
              <a:rPr lang="ko-KR" altLang="en-US" sz="1400" dirty="0"/>
              <a:t>가로</a:t>
            </a:r>
            <a:r>
              <a:rPr lang="en-US" altLang="ko-KR" sz="1400" dirty="0"/>
              <a:t>,</a:t>
            </a:r>
            <a:r>
              <a:rPr lang="ko-KR" altLang="en-US" sz="1400" dirty="0"/>
              <a:t> 세로</a:t>
            </a:r>
            <a:r>
              <a:rPr lang="en-US" altLang="ko-KR" sz="1400" dirty="0"/>
              <a:t>)</a:t>
            </a:r>
            <a:r>
              <a:rPr lang="ko-KR" altLang="en-US" sz="1400" dirty="0"/>
              <a:t> 기준으로</a:t>
            </a:r>
            <a:r>
              <a:rPr lang="en-US" altLang="ko-KR" sz="1400" dirty="0"/>
              <a:t>,</a:t>
            </a:r>
            <a:r>
              <a:rPr lang="ko-KR" altLang="en-US" sz="1400" dirty="0"/>
              <a:t> 혹은 세로 길이 기준으로</a:t>
            </a:r>
            <a:r>
              <a:rPr lang="en-US" altLang="ko-KR" sz="1400" dirty="0"/>
              <a:t> </a:t>
            </a:r>
            <a:r>
              <a:rPr lang="ko-KR" altLang="en-US" sz="1400" dirty="0"/>
              <a:t>타겟인지 판별합니다</a:t>
            </a:r>
            <a:r>
              <a:rPr lang="en-US" altLang="ko-KR" sz="1400" dirty="0"/>
              <a:t>.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64F65A4-5557-417E-B6DC-BC0FA87C82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4490" r="18148"/>
          <a:stretch>
            <a:fillRect/>
          </a:stretch>
        </p:blipFill>
        <p:spPr>
          <a:xfrm>
            <a:off x="6886387" y="2764"/>
            <a:ext cx="530561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0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8ABB8E-656F-CDA6-E16C-0CFDB3C3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목표 상자 탐지 검증 과정</a:t>
            </a:r>
            <a:endParaRPr kumimoji="1" lang="en-US" altLang="ko-KR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D770C2-22EC-4774-70F7-C7E24AF1D7E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2441273"/>
            <a:ext cx="5385816" cy="381794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ko-KR" altLang="en-US" sz="1400" b="1" dirty="0"/>
              <a:t>사전 테스트 구성</a:t>
            </a:r>
          </a:p>
          <a:p>
            <a:pPr marL="0" lvl="1" indent="0">
              <a:buNone/>
            </a:pPr>
            <a:r>
              <a:rPr lang="ko-KR" altLang="en-US" sz="1400" dirty="0"/>
              <a:t>이 개념이 제대로 동작할 지 테스트가 목적 입니다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이미지 </a:t>
            </a:r>
            <a:r>
              <a:rPr lang="ko-KR" altLang="en-US" sz="1400" b="1" dirty="0" err="1"/>
              <a:t>전처리</a:t>
            </a:r>
            <a:endParaRPr lang="ko-KR" altLang="en-US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테스트 이미지를 중앙 정사각형으로 잘라 </a:t>
            </a:r>
            <a:r>
              <a:rPr lang="en-US" altLang="ko-KR" sz="1400" dirty="0"/>
              <a:t>250×250 </a:t>
            </a:r>
            <a:r>
              <a:rPr lang="ko-KR" altLang="en-US" sz="1400" dirty="0"/>
              <a:t>크기로 </a:t>
            </a:r>
            <a:r>
              <a:rPr lang="ko-KR" altLang="en-US" sz="1400" dirty="0" err="1"/>
              <a:t>리사이즈해</a:t>
            </a:r>
            <a:r>
              <a:rPr lang="ko-KR" altLang="en-US" sz="1400" dirty="0"/>
              <a:t> 실제 환경을 모사합니다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메타데이터 설정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각 이미지에 실제 카메라와 박스 사이의 거리 데이터를 메타데이터로 추가합니다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탐지 및 검증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" sz="1400" dirty="0"/>
              <a:t>YOLOv5</a:t>
            </a:r>
            <a:r>
              <a:rPr lang="ko-KR" altLang="en-US" sz="1400" dirty="0"/>
              <a:t>와 크기 필터를 적용하여 실제 크기를 추정하고</a:t>
            </a:r>
            <a:r>
              <a:rPr lang="en-US" altLang="ko-KR" sz="1400" dirty="0"/>
              <a:t>, </a:t>
            </a:r>
            <a:r>
              <a:rPr lang="ko-KR" altLang="en-US" sz="1400" dirty="0"/>
              <a:t>로그 및 시각화로 필터 통과 여부를 검증합니다</a:t>
            </a:r>
            <a:r>
              <a:rPr lang="en-US" altLang="ko-KR" sz="1400" dirty="0"/>
              <a:t>.</a:t>
            </a:r>
            <a:endParaRPr kumimoji="1" lang="ko-KR" altLang="en-US" sz="1400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1990D13-FC08-892F-06C3-2262ABFB0E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8265" b="8265"/>
          <a:stretch/>
        </p:blipFill>
        <p:spPr>
          <a:xfrm>
            <a:off x="1253331" y="2489810"/>
            <a:ext cx="4351338" cy="3632067"/>
          </a:xfrm>
        </p:spPr>
      </p:pic>
    </p:spTree>
    <p:extLst>
      <p:ext uri="{BB962C8B-B14F-4D97-AF65-F5344CB8AC3E}">
        <p14:creationId xmlns:p14="http://schemas.microsoft.com/office/powerpoint/2010/main" val="397705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C9AAAD-5DBF-62AB-4FA5-FB0584B6F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LiDAR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와 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YOLOv5 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결합 과정</a:t>
            </a:r>
            <a:endParaRPr kumimoji="1" lang="en-US" altLang="ko-KR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DAF9AF-1BDD-E516-2215-9B6062884CFA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" sz="1400" b="1" dirty="0"/>
              <a:t>LiDAR </a:t>
            </a:r>
            <a:r>
              <a:rPr lang="ko-KR" altLang="en-US" sz="1400" b="1" dirty="0"/>
              <a:t>거리 측정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" sz="1400" dirty="0"/>
              <a:t>LiDAR</a:t>
            </a:r>
            <a:r>
              <a:rPr lang="ko-KR" altLang="en-US" sz="1400" dirty="0"/>
              <a:t>는 전방 </a:t>
            </a:r>
            <a:r>
              <a:rPr lang="en-US" altLang="ko-KR" sz="1400" dirty="0"/>
              <a:t>1</a:t>
            </a:r>
            <a:r>
              <a:rPr lang="ko-KR" altLang="en-US" sz="1400" dirty="0"/>
              <a:t>도 각도에서 최소 거리를 계산하여 정확한 거리 정보를 제공합니다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" sz="1400" b="1" dirty="0"/>
              <a:t>YOLOv5 </a:t>
            </a:r>
            <a:r>
              <a:rPr lang="ko-KR" altLang="en-US" sz="1400" b="1" dirty="0"/>
              <a:t>객체 검출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" sz="1400" dirty="0"/>
              <a:t>YOLOv5</a:t>
            </a:r>
            <a:r>
              <a:rPr lang="ko-KR" altLang="en-US" sz="1400" dirty="0"/>
              <a:t>는 이미지에서 가장 신뢰도 높은 객체 박스를 선택하여 검출 결과를 제공합니다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픽셀 크기와 실제 거리 기록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로그 데이터를 통해 목표 박스의 픽셀 크기와 실제 거리의 상관관계를 수집합니다</a:t>
            </a:r>
            <a:r>
              <a:rPr lang="en-US" altLang="ko-KR" sz="1400" dirty="0"/>
              <a:t>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kumimoji="1" lang="en-US" altLang="ko-KR" sz="1400" dirty="0"/>
          </a:p>
          <a:p>
            <a:pPr marL="0" lvl="1" indent="0">
              <a:buNone/>
            </a:pPr>
            <a:r>
              <a:rPr kumimoji="1" lang="ko-KR" altLang="en-US" sz="1400" b="1" dirty="0"/>
              <a:t>일반화 및 보정</a:t>
            </a:r>
            <a:endParaRPr kumimoji="1" lang="en-US" altLang="ko-KR" sz="1400" dirty="0"/>
          </a:p>
          <a:p>
            <a:pPr marL="0" lvl="1" indent="0">
              <a:buNone/>
            </a:pPr>
            <a:r>
              <a:rPr kumimoji="1" lang="ko-KR" altLang="en-US" sz="1400" dirty="0"/>
              <a:t>이 결과를 이용해 선형보간 실시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선형적합도 </a:t>
            </a:r>
            <a:r>
              <a:rPr kumimoji="1" lang="en-US" altLang="ko-KR" sz="1400" dirty="0"/>
              <a:t>0.95</a:t>
            </a:r>
            <a:r>
              <a:rPr kumimoji="1" lang="ko-KR" altLang="en-US" sz="1400" dirty="0"/>
              <a:t>의 정확도를 얻었습니다</a:t>
            </a:r>
            <a:r>
              <a:rPr kumimoji="1" lang="en-US" altLang="ko-KR" sz="1400" dirty="0"/>
              <a:t>.</a:t>
            </a:r>
          </a:p>
          <a:p>
            <a:pPr marL="0" lvl="1" indent="0">
              <a:buNone/>
            </a:pPr>
            <a:r>
              <a:rPr kumimoji="1" lang="ko-KR" altLang="en-US" sz="1400" dirty="0"/>
              <a:t>실제로 이 모델을 사용할 수 있다고 판단했습니다</a:t>
            </a:r>
            <a:r>
              <a:rPr kumimoji="1" lang="en-US" altLang="ko-KR" sz="1400" dirty="0"/>
              <a:t>.</a:t>
            </a:r>
            <a:endParaRPr lang="en-US" altLang="ko-KR" sz="14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CCDEF41-4CC3-4575-93DE-0F38BF2898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4667" r="14667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4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75D596-B556-A5DA-2457-DED7AC2F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실제 로봇 주행 및 거리 측정 문제</a:t>
            </a:r>
            <a:endParaRPr kumimoji="1" lang="en-US" altLang="ko-KR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9A6E9-1018-DC7D-6DAB-A6EA8E6A2F13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자동 주행의 어려움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자동 전진 구현 시 </a:t>
            </a:r>
            <a:r>
              <a:rPr lang="en" sz="1400" dirty="0"/>
              <a:t>LiDAR</a:t>
            </a:r>
            <a:r>
              <a:rPr lang="ko-KR" altLang="en-US" sz="1400" dirty="0"/>
              <a:t>의 거리 측정이 불안정한 점</a:t>
            </a:r>
            <a:r>
              <a:rPr lang="en-US" altLang="ko-KR" sz="1400" dirty="0"/>
              <a:t>,</a:t>
            </a:r>
            <a:r>
              <a:rPr lang="ko-KR" altLang="en-US" sz="1400" dirty="0"/>
              <a:t> 작성한 스크립트로 </a:t>
            </a:r>
            <a:r>
              <a:rPr lang="en-US" altLang="ko-KR" sz="1400" dirty="0"/>
              <a:t>/</a:t>
            </a:r>
            <a:r>
              <a:rPr lang="en-US" altLang="ko-KR" sz="1400" dirty="0" err="1"/>
              <a:t>cmd_vel</a:t>
            </a:r>
            <a:r>
              <a:rPr lang="en-US" altLang="ko-KR" sz="1400" dirty="0"/>
              <a:t> </a:t>
            </a:r>
            <a:r>
              <a:rPr lang="ko-KR" altLang="en-US" sz="1400" dirty="0"/>
              <a:t>로 명령을 계속 주어도 전진하지 않는 점이 있었습니다</a:t>
            </a:r>
            <a:r>
              <a:rPr lang="en-US" altLang="ko-KR" sz="1400" dirty="0"/>
              <a:t>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altLang="ko-KR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b="1" dirty="0"/>
              <a:t>수동 주행 및 데이터 수집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자동 주행 대신 수동 주행과 로그 수집 방식을 활용하여 데이터를 축적하는 전략으로 전환했습니다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거리 측정값의 분산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" sz="1400" dirty="0"/>
              <a:t>LiDAR</a:t>
            </a:r>
            <a:r>
              <a:rPr lang="ko-KR" altLang="en-US" sz="1400" dirty="0"/>
              <a:t>로 우체국 박스까지의 거리를 측정할 때 값의 변동이 커서 픽셀</a:t>
            </a:r>
            <a:r>
              <a:rPr lang="en-US" altLang="ko-KR" sz="1400" dirty="0"/>
              <a:t>-</a:t>
            </a:r>
            <a:r>
              <a:rPr lang="ko-KR" altLang="en-US" sz="1400" dirty="0"/>
              <a:t>거리 회귀 데이터에 분산이 크게 나타났습니다</a:t>
            </a:r>
            <a:r>
              <a:rPr lang="en-US" altLang="ko-KR" sz="1400" dirty="0"/>
              <a:t>.</a:t>
            </a:r>
          </a:p>
          <a:p>
            <a:pPr marL="0" lvl="1" indent="0">
              <a:buNone/>
            </a:pPr>
            <a:endParaRPr lang="en-US" altLang="ko-KR" sz="1400" b="1" dirty="0"/>
          </a:p>
          <a:p>
            <a:pPr marL="0" lvl="1" indent="0">
              <a:buNone/>
            </a:pPr>
            <a:r>
              <a:rPr lang="ko-KR" altLang="en-US" sz="1400" b="1" dirty="0"/>
              <a:t>카메라 기반 크기추정의 역</a:t>
            </a:r>
            <a:endParaRPr lang="en-US" altLang="ko-KR" sz="1400" b="1" dirty="0"/>
          </a:p>
          <a:p>
            <a:pPr marL="0" lvl="1" indent="0">
              <a:buNone/>
            </a:pPr>
            <a:r>
              <a:rPr lang="ko-KR" altLang="en-US" sz="1400" dirty="0"/>
              <a:t>이를 극복하기 위해 최초 카메라 기반 크기 추정의 값을 역산하여 </a:t>
            </a:r>
            <a:r>
              <a:rPr lang="en-US" altLang="ko-KR" sz="1400" dirty="0"/>
              <a:t>pixel</a:t>
            </a:r>
            <a:r>
              <a:rPr lang="ko-KR" altLang="en-US" sz="1400" dirty="0"/>
              <a:t> 단위의 가로 세로 크기로 선형보간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0.88</a:t>
            </a:r>
            <a:r>
              <a:rPr lang="ko-KR" altLang="en-US" sz="1400" dirty="0"/>
              <a:t>의 적합도를 확인하였습니다</a:t>
            </a:r>
            <a:r>
              <a:rPr lang="en-US" altLang="ko-KR" sz="1400" dirty="0"/>
              <a:t>.</a:t>
            </a:r>
          </a:p>
          <a:p>
            <a:pPr marL="0" lvl="1" indent="0">
              <a:buNone/>
            </a:pPr>
            <a:r>
              <a:rPr lang="ko-KR" altLang="en-US" sz="1400" dirty="0"/>
              <a:t>이는 실제로 사용하기엔 무리가 있다고 판단하였습니다</a:t>
            </a:r>
            <a:r>
              <a:rPr lang="en-US" altLang="ko-KR" sz="1400" dirty="0"/>
              <a:t>.</a:t>
            </a:r>
          </a:p>
          <a:p>
            <a:pPr marL="0" lvl="1" indent="0">
              <a:buNone/>
            </a:pPr>
            <a:endParaRPr lang="ko-KR" altLang="en-US" sz="1400" b="1" dirty="0"/>
          </a:p>
          <a:p>
            <a:pPr marL="0" lvl="1" indent="0">
              <a:buFont typeface="Arial" panose="020B0604020202020204" pitchFamily="34" charset="0"/>
              <a:buNone/>
            </a:pPr>
            <a:endParaRPr kumimoji="1" lang="en-US" altLang="ko-KR" sz="14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6B38628-CA39-4E0E-B3E3-FB8C589439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3695" t="8001" r="15462" b="713"/>
          <a:stretch>
            <a:fillRect/>
          </a:stretch>
        </p:blipFill>
        <p:spPr>
          <a:xfrm>
            <a:off x="6647688" y="548598"/>
            <a:ext cx="5544312" cy="626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63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202B07-E189-6812-09D7-8AECA087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ko-KR" altLang="en-US"/>
              <a:t>BoxSizeHelper 클래스 특징</a:t>
            </a:r>
            <a:endParaRPr kumimoji="1" lang="ko-KR" altLang="en-US"/>
          </a:p>
        </p:txBody>
      </p:sp>
      <p:graphicFrame>
        <p:nvGraphicFramePr>
          <p:cNvPr id="4" name="내용 개체 틀 4">
            <a:extLst>
              <a:ext uri="{FF2B5EF4-FFF2-40B4-BE49-F238E27FC236}">
                <a16:creationId xmlns:a16="http://schemas.microsoft.com/office/drawing/2014/main" id="{9644CA85-26E1-46B4-986B-1AA346FB38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25245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387542" y="548639"/>
          <a:ext cx="6189780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434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812</Words>
  <Application>Microsoft Macintosh PowerPoint</Application>
  <PresentationFormat>와이드스크린</PresentationFormat>
  <Paragraphs>69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Neue Haas Grotesk Text Pro</vt:lpstr>
      <vt:lpstr>Office 테마</vt:lpstr>
      <vt:lpstr>실제 박스 크기 판별 방법</vt:lpstr>
      <vt:lpstr>카메라 기반 크기 추정</vt:lpstr>
      <vt:lpstr>목표 상자 탐지 검증 과정</vt:lpstr>
      <vt:lpstr>LiDAR와 YOLOv5 결합 과정</vt:lpstr>
      <vt:lpstr>실제 로봇 주행 및 거리 측정 문제</vt:lpstr>
      <vt:lpstr>BoxSizeHelper 클래스 특징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JinU Choi</dc:creator>
  <cp:lastModifiedBy>JinU Choi</cp:lastModifiedBy>
  <cp:revision>3</cp:revision>
  <dcterms:created xsi:type="dcterms:W3CDTF">2025-12-10T12:28:50Z</dcterms:created>
  <dcterms:modified xsi:type="dcterms:W3CDTF">2025-12-10T13:20:13Z</dcterms:modified>
</cp:coreProperties>
</file>